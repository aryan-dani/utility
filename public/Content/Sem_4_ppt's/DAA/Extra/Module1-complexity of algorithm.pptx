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352" r:id="rId5"/>
    <p:sldId id="362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50" r:id="rId33"/>
  </p:sldIdLst>
  <p:sldSz cx="1216183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31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hxCdcGIMT/yBoomvwGCq80MM5V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4789D5-B87F-42ED-976C-19CA385F0B92}">
  <a:tblStyle styleId="{B44789D5-B87F-42ED-976C-19CA385F0B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B5F850-D07B-42BB-BD52-392E405636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0" y="72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10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10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8938" y="685800"/>
            <a:ext cx="6080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9016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48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1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7295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623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8862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6162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252875ef3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252875ef3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g1252875ef3f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89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0"/>
          <p:cNvSpPr txBox="1">
            <a:spLocks noGrp="1"/>
          </p:cNvSpPr>
          <p:nvPr>
            <p:ph type="ctrTitle"/>
          </p:nvPr>
        </p:nvSpPr>
        <p:spPr>
          <a:xfrm>
            <a:off x="912138" y="2130426"/>
            <a:ext cx="10337562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0"/>
          <p:cNvSpPr txBox="1"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0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0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90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90"/>
          <p:cNvSpPr/>
          <p:nvPr userDrawn="1"/>
        </p:nvSpPr>
        <p:spPr>
          <a:xfrm>
            <a:off x="0" y="6533290"/>
            <a:ext cx="12161838" cy="324710"/>
          </a:xfrm>
          <a:prstGeom prst="rect">
            <a:avLst/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90"/>
          <p:cNvSpPr txBox="1"/>
          <p:nvPr/>
        </p:nvSpPr>
        <p:spPr>
          <a:xfrm>
            <a:off x="865041" y="6491995"/>
            <a:ext cx="415529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Education </a:t>
            </a:r>
            <a:r>
              <a:rPr lang="en-US" sz="1400" b="1" i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ith </a:t>
            </a:r>
            <a:r>
              <a:rPr lang="en-US" sz="1400" b="1" i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alues</a:t>
            </a:r>
            <a:endParaRPr sz="1400" b="1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0"/>
          <p:cNvSpPr/>
          <p:nvPr userDrawn="1"/>
        </p:nvSpPr>
        <p:spPr>
          <a:xfrm>
            <a:off x="4337108" y="6533290"/>
            <a:ext cx="7839892" cy="324709"/>
          </a:xfrm>
          <a:prstGeom prst="rect">
            <a:avLst/>
          </a:prstGeom>
          <a:solidFill>
            <a:srgbClr val="1A0A9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0"/>
          <p:cNvSpPr txBox="1"/>
          <p:nvPr userDrawn="1"/>
        </p:nvSpPr>
        <p:spPr>
          <a:xfrm>
            <a:off x="6096000" y="6522773"/>
            <a:ext cx="8748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Dr.Vishwanath Karad MIT World Peace University</a:t>
            </a:r>
            <a:endParaRPr sz="1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90"/>
          <p:cNvCxnSpPr/>
          <p:nvPr/>
        </p:nvCxnSpPr>
        <p:spPr>
          <a:xfrm>
            <a:off x="1661319" y="1729740"/>
            <a:ext cx="83820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90"/>
          <p:cNvSpPr txBox="1"/>
          <p:nvPr/>
        </p:nvSpPr>
        <p:spPr>
          <a:xfrm>
            <a:off x="914400" y="2130425"/>
            <a:ext cx="10363200" cy="321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23444" y="0"/>
            <a:ext cx="2809524" cy="942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1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1"/>
          <p:cNvSpPr txBox="1">
            <a:spLocks noGrp="1"/>
          </p:cNvSpPr>
          <p:nvPr>
            <p:ph type="body" idx="1"/>
          </p:nvPr>
        </p:nvSpPr>
        <p:spPr>
          <a:xfrm>
            <a:off x="608092" y="1600201"/>
            <a:ext cx="1094565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91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1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91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91"/>
          <p:cNvSpPr/>
          <p:nvPr userDrawn="1"/>
        </p:nvSpPr>
        <p:spPr>
          <a:xfrm>
            <a:off x="0" y="6533290"/>
            <a:ext cx="12192000" cy="324710"/>
          </a:xfrm>
          <a:prstGeom prst="rect">
            <a:avLst/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91"/>
          <p:cNvSpPr txBox="1"/>
          <p:nvPr/>
        </p:nvSpPr>
        <p:spPr>
          <a:xfrm>
            <a:off x="0" y="6400800"/>
            <a:ext cx="32696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91"/>
          <p:cNvCxnSpPr/>
          <p:nvPr/>
        </p:nvCxnSpPr>
        <p:spPr>
          <a:xfrm>
            <a:off x="1665439" y="1295400"/>
            <a:ext cx="8402788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23444" y="0"/>
            <a:ext cx="2809524" cy="942857"/>
          </a:xfrm>
          <a:prstGeom prst="rect">
            <a:avLst/>
          </a:prstGeom>
        </p:spPr>
      </p:pic>
      <p:sp>
        <p:nvSpPr>
          <p:cNvPr id="16" name="Google Shape;23;p90"/>
          <p:cNvSpPr/>
          <p:nvPr userDrawn="1"/>
        </p:nvSpPr>
        <p:spPr>
          <a:xfrm>
            <a:off x="4337108" y="6533290"/>
            <a:ext cx="7839892" cy="324709"/>
          </a:xfrm>
          <a:prstGeom prst="rect">
            <a:avLst/>
          </a:prstGeom>
          <a:solidFill>
            <a:srgbClr val="1A0A9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173067" y="6546189"/>
            <a:ext cx="1951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Education  </a:t>
            </a:r>
            <a:r>
              <a:rPr lang="en-US" sz="1400" b="1" i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ith  </a:t>
            </a:r>
            <a:r>
              <a:rPr lang="en-US" sz="1400" b="1" i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4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alues</a:t>
            </a:r>
            <a:endParaRPr lang="en-US" sz="1400" b="1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6180624" y="6546189"/>
            <a:ext cx="38876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Dr.Vishwanath Karad MIT World Peace University</a:t>
            </a:r>
            <a:endParaRPr lang="en-US" sz="1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2"/>
          <p:cNvSpPr txBox="1">
            <a:spLocks noGrp="1"/>
          </p:cNvSpPr>
          <p:nvPr>
            <p:ph type="title"/>
          </p:nvPr>
        </p:nvSpPr>
        <p:spPr>
          <a:xfrm>
            <a:off x="960702" y="4406901"/>
            <a:ext cx="10337562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2"/>
          <p:cNvSpPr txBox="1"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2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2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92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3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3"/>
          <p:cNvSpPr txBox="1">
            <a:spLocks noGrp="1"/>
          </p:cNvSpPr>
          <p:nvPr>
            <p:ph type="body" idx="1"/>
          </p:nvPr>
        </p:nvSpPr>
        <p:spPr>
          <a:xfrm>
            <a:off x="608092" y="1600201"/>
            <a:ext cx="537147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93"/>
          <p:cNvSpPr txBox="1">
            <a:spLocks noGrp="1"/>
          </p:cNvSpPr>
          <p:nvPr>
            <p:ph type="body" idx="2"/>
          </p:nvPr>
        </p:nvSpPr>
        <p:spPr>
          <a:xfrm>
            <a:off x="6182268" y="1600201"/>
            <a:ext cx="537147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93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3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93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4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4"/>
          <p:cNvSpPr txBox="1">
            <a:spLocks noGrp="1"/>
          </p:cNvSpPr>
          <p:nvPr>
            <p:ph type="body" idx="1"/>
          </p:nvPr>
        </p:nvSpPr>
        <p:spPr>
          <a:xfrm>
            <a:off x="608092" y="1535113"/>
            <a:ext cx="537359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94"/>
          <p:cNvSpPr txBox="1">
            <a:spLocks noGrp="1"/>
          </p:cNvSpPr>
          <p:nvPr>
            <p:ph type="body" idx="2"/>
          </p:nvPr>
        </p:nvSpPr>
        <p:spPr>
          <a:xfrm>
            <a:off x="608092" y="2174875"/>
            <a:ext cx="5373591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94"/>
          <p:cNvSpPr txBox="1">
            <a:spLocks noGrp="1"/>
          </p:cNvSpPr>
          <p:nvPr>
            <p:ph type="body" idx="3"/>
          </p:nvPr>
        </p:nvSpPr>
        <p:spPr>
          <a:xfrm>
            <a:off x="6178046" y="1535113"/>
            <a:ext cx="537570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94"/>
          <p:cNvSpPr txBox="1">
            <a:spLocks noGrp="1"/>
          </p:cNvSpPr>
          <p:nvPr>
            <p:ph type="body" idx="4"/>
          </p:nvPr>
        </p:nvSpPr>
        <p:spPr>
          <a:xfrm>
            <a:off x="6178046" y="2174875"/>
            <a:ext cx="5375701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9" name="Google Shape;59;p94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4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4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5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5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5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5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6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6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6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7"/>
          <p:cNvSpPr txBox="1">
            <a:spLocks noGrp="1"/>
          </p:cNvSpPr>
          <p:nvPr>
            <p:ph type="title"/>
          </p:nvPr>
        </p:nvSpPr>
        <p:spPr>
          <a:xfrm>
            <a:off x="608093" y="273050"/>
            <a:ext cx="4001161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7"/>
          <p:cNvSpPr txBox="1">
            <a:spLocks noGrp="1"/>
          </p:cNvSpPr>
          <p:nvPr>
            <p:ph type="body" idx="1"/>
          </p:nvPr>
        </p:nvSpPr>
        <p:spPr>
          <a:xfrm>
            <a:off x="4754941" y="273051"/>
            <a:ext cx="6798805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97"/>
          <p:cNvSpPr txBox="1">
            <a:spLocks noGrp="1"/>
          </p:cNvSpPr>
          <p:nvPr>
            <p:ph type="body" idx="2"/>
          </p:nvPr>
        </p:nvSpPr>
        <p:spPr>
          <a:xfrm>
            <a:off x="608093" y="1435101"/>
            <a:ext cx="4001161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97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7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7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8"/>
          <p:cNvSpPr txBox="1">
            <a:spLocks noGrp="1"/>
          </p:cNvSpPr>
          <p:nvPr>
            <p:ph type="title"/>
          </p:nvPr>
        </p:nvSpPr>
        <p:spPr>
          <a:xfrm>
            <a:off x="2383805" y="4800600"/>
            <a:ext cx="7297103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8"/>
          <p:cNvSpPr>
            <a:spLocks noGrp="1"/>
          </p:cNvSpPr>
          <p:nvPr>
            <p:ph type="pic" idx="2"/>
          </p:nvPr>
        </p:nvSpPr>
        <p:spPr>
          <a:xfrm>
            <a:off x="2383805" y="612775"/>
            <a:ext cx="729710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8"/>
          <p:cNvSpPr txBox="1">
            <a:spLocks noGrp="1"/>
          </p:cNvSpPr>
          <p:nvPr>
            <p:ph type="body" idx="1"/>
          </p:nvPr>
        </p:nvSpPr>
        <p:spPr>
          <a:xfrm>
            <a:off x="2383805" y="5367338"/>
            <a:ext cx="729710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98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8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8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9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9"/>
          <p:cNvSpPr txBox="1">
            <a:spLocks noGrp="1"/>
          </p:cNvSpPr>
          <p:nvPr>
            <p:ph type="body" idx="1"/>
          </p:nvPr>
        </p:nvSpPr>
        <p:spPr>
          <a:xfrm rot="5400000">
            <a:off x="3817938" y="-1609644"/>
            <a:ext cx="4525963" cy="10945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9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9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9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0"/>
          <p:cNvSpPr txBox="1">
            <a:spLocks noGrp="1"/>
          </p:cNvSpPr>
          <p:nvPr>
            <p:ph type="title"/>
          </p:nvPr>
        </p:nvSpPr>
        <p:spPr>
          <a:xfrm rot="5400000">
            <a:off x="7259777" y="1832195"/>
            <a:ext cx="5851525" cy="2736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body" idx="1"/>
          </p:nvPr>
        </p:nvSpPr>
        <p:spPr>
          <a:xfrm rot="5400000">
            <a:off x="1685601" y="-802870"/>
            <a:ext cx="5851525" cy="800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00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00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0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9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9"/>
          <p:cNvSpPr txBox="1">
            <a:spLocks noGrp="1"/>
          </p:cNvSpPr>
          <p:nvPr>
            <p:ph type="body" idx="1"/>
          </p:nvPr>
        </p:nvSpPr>
        <p:spPr>
          <a:xfrm>
            <a:off x="608092" y="1600201"/>
            <a:ext cx="1094565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9"/>
          <p:cNvSpPr txBox="1">
            <a:spLocks noGrp="1"/>
          </p:cNvSpPr>
          <p:nvPr>
            <p:ph type="dt" idx="10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9"/>
          <p:cNvSpPr txBox="1">
            <a:spLocks noGrp="1"/>
          </p:cNvSpPr>
          <p:nvPr>
            <p:ph type="ftr" idx="11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9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914400" y="2130425"/>
            <a:ext cx="10363200" cy="321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2962"/>
              <a:buFont typeface="Calibri"/>
              <a:buNone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Coding Using Data Structure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6538901"/>
            <a:ext cx="5648325" cy="28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2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82939" y="1628118"/>
            <a:ext cx="1054241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Time Complexity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draw recurrence tree for any recurrence relation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find upper bound for any recurrence relation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273" y="6551280"/>
            <a:ext cx="5648325" cy="28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608092" y="1600201"/>
            <a:ext cx="1094565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behaviour analysis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method for solving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recurrences</a:t>
            </a:r>
          </a:p>
          <a:p>
            <a:pPr marL="342900" lvl="0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Recurrences 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342900" lvl="0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 to determine upper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</a:p>
          <a:p>
            <a:pPr marL="342900" lvl="0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of an algorithm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078" y="6538901"/>
            <a:ext cx="5648325" cy="28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Loop behaviour analysis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Complexity - 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  (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1263" y="2317025"/>
            <a:ext cx="3210611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 )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Some Θ(1) work;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15" y="2317025"/>
            <a:ext cx="3487214" cy="3115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11264" y="4085736"/>
            <a:ext cx="321061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 ;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0;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 )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Some Θ(1) work;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415" y="6557238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10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-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 (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6325" y="2324930"/>
            <a:ext cx="3047877" cy="1323439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1;i&lt; n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C )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Θ(1) work;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93" y="2324929"/>
            <a:ext cx="5698985" cy="41351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750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5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- 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Θ(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71926" y="2319087"/>
            <a:ext cx="3390891" cy="1631216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114300" indent="0" algn="just">
              <a:spcAft>
                <a:spcPts val="800"/>
              </a:spcAft>
              <a:buNone/>
            </a:pP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 (</a:t>
            </a:r>
            <a:r>
              <a:rPr lang="en-IN" sz="20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2;i&lt; </a:t>
            </a:r>
            <a:r>
              <a:rPr lang="en-IN" sz="20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n;i</a:t>
            </a: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pow( </a:t>
            </a:r>
            <a:r>
              <a:rPr lang="en-IN" sz="20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c)  )</a:t>
            </a: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{</a:t>
            </a: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Some Θ(1) work;</a:t>
            </a: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15" y="2319086"/>
            <a:ext cx="5227093" cy="3352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467" y="657860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4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Loop behaviour analysis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-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IN" sz="1600" dirty="0"/>
              <a:t/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62832" y="2359167"/>
            <a:ext cx="28211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for(j=1;j&lt;=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n;j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(“hello”);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 marL="11430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887937"/>
              </p:ext>
            </p:extLst>
          </p:nvPr>
        </p:nvGraphicFramePr>
        <p:xfrm>
          <a:off x="4579519" y="2359163"/>
          <a:ext cx="4632719" cy="2246772"/>
        </p:xfrm>
        <a:graphic>
          <a:graphicData uri="http://schemas.openxmlformats.org/drawingml/2006/table">
            <a:tbl>
              <a:tblPr bandRow="1"/>
              <a:tblGrid>
                <a:gridCol w="1366118">
                  <a:extLst>
                    <a:ext uri="{9D8B030D-6E8A-4147-A177-3AD203B41FA5}">
                      <a16:colId xmlns="" xmlns:a16="http://schemas.microsoft.com/office/drawing/2014/main" val="3375112230"/>
                    </a:ext>
                  </a:extLst>
                </a:gridCol>
                <a:gridCol w="1366118">
                  <a:extLst>
                    <a:ext uri="{9D8B030D-6E8A-4147-A177-3AD203B41FA5}">
                      <a16:colId xmlns="" xmlns:a16="http://schemas.microsoft.com/office/drawing/2014/main" val="3344580750"/>
                    </a:ext>
                  </a:extLst>
                </a:gridCol>
                <a:gridCol w="1900483">
                  <a:extLst>
                    <a:ext uri="{9D8B030D-6E8A-4147-A177-3AD203B41FA5}">
                      <a16:colId xmlns="" xmlns:a16="http://schemas.microsoft.com/office/drawing/2014/main" val="1361183788"/>
                    </a:ext>
                  </a:extLst>
                </a:gridCol>
              </a:tblGrid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of 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of 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j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Loop executed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25616471"/>
                  </a:ext>
                </a:extLst>
              </a:tr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 times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45230147"/>
                  </a:ext>
                </a:extLst>
              </a:tr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 times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91983651"/>
                  </a:ext>
                </a:extLst>
              </a:tr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 times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50649240"/>
                  </a:ext>
                </a:extLst>
              </a:tr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11952782"/>
                  </a:ext>
                </a:extLst>
              </a:tr>
              <a:tr h="3744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082710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102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274" y="2340429"/>
            <a:ext cx="3712920" cy="3719177"/>
          </a:xfrm>
          <a:ln>
            <a:solidFill>
              <a:schemeClr val="accent6"/>
            </a:solidFill>
          </a:ln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(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=1;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&lt;=n;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{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for (j=1; j&lt;=pow(i,2);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j++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{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    for (k=1; j&lt;=n/2; k++)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{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N" sz="2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(“hello”);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}</a:t>
            </a: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}</a:t>
            </a:r>
          </a:p>
          <a:p>
            <a:pPr marL="114300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lnSpc>
                <a:spcPts val="1200"/>
              </a:lnSpc>
              <a:buNone/>
            </a:pPr>
            <a:endParaRPr lang="en-I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86363"/>
              </p:ext>
            </p:extLst>
          </p:nvPr>
        </p:nvGraphicFramePr>
        <p:xfrm>
          <a:off x="5816030" y="2340428"/>
          <a:ext cx="5429726" cy="2668299"/>
        </p:xfrm>
        <a:graphic>
          <a:graphicData uri="http://schemas.openxmlformats.org/drawingml/2006/table">
            <a:tbl>
              <a:tblPr bandRow="1"/>
              <a:tblGrid>
                <a:gridCol w="1313589">
                  <a:extLst>
                    <a:ext uri="{9D8B030D-6E8A-4147-A177-3AD203B41FA5}">
                      <a16:colId xmlns="" xmlns:a16="http://schemas.microsoft.com/office/drawing/2014/main" val="826484301"/>
                    </a:ext>
                  </a:extLst>
                </a:gridCol>
                <a:gridCol w="1313589">
                  <a:extLst>
                    <a:ext uri="{9D8B030D-6E8A-4147-A177-3AD203B41FA5}">
                      <a16:colId xmlns="" xmlns:a16="http://schemas.microsoft.com/office/drawing/2014/main" val="2193145476"/>
                    </a:ext>
                  </a:extLst>
                </a:gridCol>
                <a:gridCol w="2802548">
                  <a:extLst>
                    <a:ext uri="{9D8B030D-6E8A-4147-A177-3AD203B41FA5}">
                      <a16:colId xmlns="" xmlns:a16="http://schemas.microsoft.com/office/drawing/2014/main" val="2834305808"/>
                    </a:ext>
                  </a:extLst>
                </a:gridCol>
              </a:tblGrid>
              <a:tr h="6126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  </a:t>
                      </a:r>
                      <a:r>
                        <a:rPr lang="en-IN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of j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 loop will be executed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10992448"/>
                  </a:ext>
                </a:extLst>
              </a:tr>
              <a:tr h="39697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* n/2 times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71056973"/>
                  </a:ext>
                </a:extLst>
              </a:tr>
              <a:tr h="4205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8461805"/>
                  </a:ext>
                </a:extLst>
              </a:tr>
              <a:tr h="39697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9395408"/>
                  </a:ext>
                </a:extLst>
              </a:tr>
              <a:tr h="4205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65038154"/>
                  </a:ext>
                </a:extLst>
              </a:tr>
              <a:tr h="4205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r>
                        <a:rPr lang="en-IN" sz="20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IN" sz="20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0692786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7189" y="1575313"/>
            <a:ext cx="2388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0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Complexity - </a:t>
            </a:r>
            <a:r>
              <a:rPr lang="en-IN" sz="2000" b="1" dirty="0" smtClean="0">
                <a:solidFill>
                  <a:srgbClr val="202124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Θ</a:t>
            </a:r>
            <a:r>
              <a:rPr lang="en-IN" sz="20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(n</a:t>
            </a:r>
            <a:r>
              <a:rPr lang="en-IN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625" y="657225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5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Analysis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multiple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4960195" cy="3558653"/>
          </a:xfrm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114300" indent="0" algn="just">
              <a:spcAft>
                <a:spcPts val="1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Consider following loop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(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=1;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&lt;=n;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for (j=1; j&lt;=pow(i,2);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j++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    for (k=1; j&lt;=n/2; k++)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(“hello”);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lnSpc>
                <a:spcPts val="1200"/>
              </a:lnSpc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}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443526"/>
              </p:ext>
            </p:extLst>
          </p:nvPr>
        </p:nvGraphicFramePr>
        <p:xfrm>
          <a:off x="6523630" y="2581635"/>
          <a:ext cx="5145205" cy="2850173"/>
        </p:xfrm>
        <a:graphic>
          <a:graphicData uri="http://schemas.openxmlformats.org/drawingml/2006/table">
            <a:tbl>
              <a:tblPr bandRow="1"/>
              <a:tblGrid>
                <a:gridCol w="1244756">
                  <a:extLst>
                    <a:ext uri="{9D8B030D-6E8A-4147-A177-3AD203B41FA5}">
                      <a16:colId xmlns="" xmlns:a16="http://schemas.microsoft.com/office/drawing/2014/main" val="826484301"/>
                    </a:ext>
                  </a:extLst>
                </a:gridCol>
                <a:gridCol w="1244756">
                  <a:extLst>
                    <a:ext uri="{9D8B030D-6E8A-4147-A177-3AD203B41FA5}">
                      <a16:colId xmlns="" xmlns:a16="http://schemas.microsoft.com/office/drawing/2014/main" val="2193145476"/>
                    </a:ext>
                  </a:extLst>
                </a:gridCol>
                <a:gridCol w="2655693">
                  <a:extLst>
                    <a:ext uri="{9D8B030D-6E8A-4147-A177-3AD203B41FA5}">
                      <a16:colId xmlns="" xmlns:a16="http://schemas.microsoft.com/office/drawing/2014/main" val="2834305808"/>
                    </a:ext>
                  </a:extLst>
                </a:gridCol>
              </a:tblGrid>
              <a:tr h="63039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of </a:t>
                      </a:r>
                      <a:r>
                        <a:rPr lang="en-IN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 of j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 loop will be executed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10992448"/>
                  </a:ext>
                </a:extLst>
              </a:tr>
              <a:tr h="4286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* n/2 times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71056973"/>
                  </a:ext>
                </a:extLst>
              </a:tr>
              <a:tr h="4541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68461805"/>
                  </a:ext>
                </a:extLst>
              </a:tr>
              <a:tr h="4286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9395408"/>
                  </a:ext>
                </a:extLst>
              </a:tr>
              <a:tr h="4541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65038154"/>
                  </a:ext>
                </a:extLst>
              </a:tr>
              <a:tr h="4541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to n</a:t>
                      </a:r>
                      <a:r>
                        <a:rPr lang="en-IN" sz="20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IN" sz="20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n/2 times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0692786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287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7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Loops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417639"/>
            <a:ext cx="10945654" cy="4708526"/>
          </a:xfrm>
        </p:spPr>
        <p:txBody>
          <a:bodyPr/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to remember: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85714"/>
              </p:ext>
            </p:extLst>
          </p:nvPr>
        </p:nvGraphicFramePr>
        <p:xfrm>
          <a:off x="900752" y="2006223"/>
          <a:ext cx="10890914" cy="4000384"/>
        </p:xfrm>
        <a:graphic>
          <a:graphicData uri="http://schemas.openxmlformats.org/drawingml/2006/table">
            <a:tbl>
              <a:tblPr bandRow="1"/>
              <a:tblGrid>
                <a:gridCol w="2322184">
                  <a:extLst>
                    <a:ext uri="{9D8B030D-6E8A-4147-A177-3AD203B41FA5}">
                      <a16:colId xmlns="" xmlns:a16="http://schemas.microsoft.com/office/drawing/2014/main" val="3122475289"/>
                    </a:ext>
                  </a:extLst>
                </a:gridCol>
                <a:gridCol w="8568730">
                  <a:extLst>
                    <a:ext uri="{9D8B030D-6E8A-4147-A177-3AD203B41FA5}">
                      <a16:colId xmlns="" xmlns:a16="http://schemas.microsoft.com/office/drawing/2014/main" val="2085024371"/>
                    </a:ext>
                  </a:extLst>
                </a:gridCol>
              </a:tblGrid>
              <a:tr h="3654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Complexity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Explanation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63891512"/>
                  </a:ext>
                </a:extLst>
              </a:tr>
              <a:tr h="3654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O(1)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no loops in the code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96452904"/>
                  </a:ext>
                </a:extLst>
              </a:tr>
              <a:tr h="4529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O(n)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loop variables are incremented / decremented by a constant amount like i++ or i+=c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72774798"/>
                  </a:ext>
                </a:extLst>
              </a:tr>
              <a:tr h="4503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n^c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multiple loops are present the complexity is dependent on the execution of the innermost loop. 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4176122"/>
                  </a:ext>
                </a:extLst>
              </a:tr>
              <a:tr h="4503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O(log n)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the loop variables are divided or multiplied by a constant like 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*c or 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=i/c where c is constant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39761228"/>
                  </a:ext>
                </a:extLst>
              </a:tr>
              <a:tr h="581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O(nlog n)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the outer or inner loop variable is incremented or decremented and the inner or outer loop variable is multiplied or divided.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81071031"/>
                  </a:ext>
                </a:extLst>
              </a:tr>
              <a:tr h="581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O(log log n)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the loop variables is decremented or incremented  exponentially by a constant like 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 pow(</a:t>
                      </a:r>
                      <a:r>
                        <a:rPr lang="en-IN" sz="1600" dirty="0" err="1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i,c</a:t>
                      </a: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 where c is constant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06635895"/>
                  </a:ext>
                </a:extLst>
              </a:tr>
              <a:tr h="581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Adding the complexities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rgbClr val="202124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When various loops are present at different positions in the code, the complexities could be added to get the final complexity.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6424526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68" y="657860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0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2" y="342878"/>
            <a:ext cx="10945654" cy="11430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1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 for solving recurrences</a:t>
            </a:r>
            <a:r>
              <a:rPr lang="en-IN" sz="3200" b="1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337481"/>
            <a:ext cx="11374642" cy="5018870"/>
          </a:xfrm>
        </p:spPr>
        <p:txBody>
          <a:bodyPr>
            <a:normAutofit fontScale="47500" lnSpcReduction="20000"/>
          </a:bodyPr>
          <a:lstStyle/>
          <a:p>
            <a:pPr marL="114300" indent="0" algn="just">
              <a:spcBef>
                <a:spcPts val="1800"/>
              </a:spcBef>
              <a:buNone/>
            </a:pPr>
            <a:r>
              <a:rPr lang="en-IN" sz="4200" b="1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IN" sz="420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Recurrence Relation?</a:t>
            </a:r>
            <a:endParaRPr lang="en-IN" sz="4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4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4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4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for finding the terms of a sequence in a recursive </a:t>
            </a:r>
            <a:r>
              <a:rPr lang="en-IN" sz="4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way </a:t>
            </a:r>
            <a:r>
              <a:rPr lang="en-IN" sz="4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lang="en-IN" sz="4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recurrence relation</a:t>
            </a:r>
            <a:r>
              <a:rPr lang="en-IN" sz="4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42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4200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4200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42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recursive relation: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Next term of the sequence is dependent on the last/previous term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f (</a:t>
            </a:r>
            <a:r>
              <a:rPr lang="en-IN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4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Where 	 </a:t>
            </a:r>
            <a:r>
              <a:rPr lang="en-IN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42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next term    	</a:t>
            </a:r>
            <a:endParaRPr lang="en-IN" sz="4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        Higher order recurrence relations are also possible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Where the nth term is dependent on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n-3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terms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Example notation of second order recurrence relation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 (X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n−1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The recurrence relation Xn+1=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 </a:t>
            </a:r>
            <a:r>
              <a:rPr lang="en-IN" sz="4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n−1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generate the Fibonacci numbers.</a:t>
            </a: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The recurrence relation  for Tower of Hanoi  </a:t>
            </a:r>
            <a:r>
              <a:rPr lang="en-IN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=2Xn−1 + 1</a:t>
            </a:r>
            <a:endParaRPr lang="en-IN" sz="4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833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9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 for solving recurrences 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5956481" cy="3954437"/>
          </a:xfrm>
          <a:ln>
            <a:solidFill>
              <a:schemeClr val="accent6"/>
            </a:solidFill>
          </a:ln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onsider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function</a:t>
            </a:r>
          </a:p>
          <a:p>
            <a:pPr marL="571500" lvl="1" indent="0">
              <a:buNone/>
            </a:pP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void </a:t>
            </a:r>
            <a:r>
              <a:rPr lang="en-IN" sz="4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IN" sz="4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)</a:t>
            </a:r>
          </a:p>
          <a:p>
            <a:pPr marL="571500" lvl="1" indent="0">
              <a:buNone/>
            </a:pP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sz="4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if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&lt; = O )</a:t>
            </a:r>
          </a:p>
          <a:p>
            <a:pPr marL="571500" lvl="1" indent="0">
              <a:buNone/>
            </a:pP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return;</a:t>
            </a:r>
          </a:p>
          <a:p>
            <a:pPr marL="571500" lvl="1" indent="0">
              <a:buNone/>
            </a:pP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print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" Hi How are you" );</a:t>
            </a:r>
          </a:p>
          <a:p>
            <a:pPr marL="571500" lvl="1" indent="0">
              <a:buNone/>
            </a:pP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/ 2 ); </a:t>
            </a:r>
          </a:p>
          <a:p>
            <a:pPr marL="571500" lvl="1" indent="0">
              <a:buNone/>
            </a:pP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 </a:t>
            </a:r>
            <a:r>
              <a:rPr lang="en-IN" sz="4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/2);</a:t>
            </a:r>
          </a:p>
          <a:p>
            <a:pPr marL="571500" lvl="1" indent="0">
              <a:buNone/>
            </a:pPr>
            <a:r>
              <a:rPr lang="en-IN" sz="4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114300" indent="0">
              <a:buNone/>
            </a:pPr>
            <a:endParaRPr lang="en-IN" sz="4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negative or </a:t>
            </a: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then 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 simply becomes Θ </a:t>
            </a:r>
            <a:r>
              <a:rPr lang="en-IN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24131" y="1668567"/>
            <a:ext cx="3862317" cy="116955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dirty="0"/>
              <a:t>Step 1: T (n) = T (n/ 2) + T (n / 2)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Step 2:   When n is positive</a:t>
            </a:r>
          </a:p>
          <a:p>
            <a:pPr marL="114300" indent="0">
              <a:buNone/>
            </a:pPr>
            <a:r>
              <a:rPr lang="en-IN" dirty="0"/>
              <a:t>	T (n) =  T (n/ 2) + T (n / 2) + Ɵ (1)</a:t>
            </a:r>
          </a:p>
          <a:p>
            <a:pPr marL="114300" indent="0">
              <a:buNone/>
            </a:pPr>
            <a:r>
              <a:rPr lang="en-IN" dirty="0"/>
              <a:t>          	         =  2 T (n / 2) + Ɵ (1)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6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1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Recurrence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3854726" cy="452596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7)</a:t>
            </a:r>
          </a:p>
          <a:p>
            <a:pPr marL="571500" lvl="1" indent="0">
              <a:buNone/>
            </a:pP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(n &lt; = 0 )</a:t>
            </a: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return;</a:t>
            </a: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for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0;i&lt; n;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+ )</a:t>
            </a: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" Hi Hello" );</a:t>
            </a: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2);</a:t>
            </a:r>
          </a:p>
          <a:p>
            <a:pPr marL="571500" lvl="1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tryrec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n / 3 ); </a:t>
            </a:r>
          </a:p>
          <a:p>
            <a:pPr marL="571500" lvl="1" indent="0">
              <a:buNone/>
            </a:pP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75921" y="1779508"/>
            <a:ext cx="6080125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write recurrence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&gt; 0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(n) = T (n / 2) + T (n /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75921" y="3671615"/>
            <a:ext cx="6080125" cy="8104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 algn="just">
              <a:spcAft>
                <a:spcPts val="80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Step 2: Adding constant to relation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(n) = T (n / 2) + T (n / 3) + Ɵ (n</a:t>
            </a:r>
            <a:r>
              <a:rPr lang="en-IN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21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3991204" cy="4525963"/>
          </a:xfrm>
        </p:spPr>
        <p:txBody>
          <a:bodyPr>
            <a:noAutofit/>
          </a:bodyPr>
          <a:lstStyle/>
          <a:p>
            <a:pPr marL="114300" indent="0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Let's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solve one more problem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void try rec (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 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if (n&lt;= 1)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return;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print (" Hi , Hello");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tryrec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(n-1);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}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73621" y="2168777"/>
            <a:ext cx="6080125" cy="23493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 algn="just">
              <a:spcAft>
                <a:spcPts val="80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Step 1&amp;2: write a recursive relation and add constant to it.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lvl="1" indent="0" algn="just">
              <a:spcAft>
                <a:spcPts val="80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n&gt; 1</a:t>
            </a:r>
          </a:p>
          <a:p>
            <a:pPr marL="571500" lvl="1" indent="0" algn="just">
              <a:spcAft>
                <a:spcPts val="80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(n) = T (n – 1) + t Ɵ (1)</a:t>
            </a:r>
          </a:p>
          <a:p>
            <a:pPr marL="571500" lvl="1" indent="0" algn="just">
              <a:spcAft>
                <a:spcPts val="80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n= 1 </a:t>
            </a:r>
          </a:p>
          <a:p>
            <a:pPr marL="571500" lvl="1" indent="0" algn="just">
              <a:spcAft>
                <a:spcPts val="80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(1) = Ɵ (1)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20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1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Recursion Tree method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4068411" cy="2369839"/>
          </a:xfrm>
        </p:spPr>
        <p:txBody>
          <a:bodyPr wrap="square">
            <a:spAutoFit/>
          </a:bodyPr>
          <a:lstStyle/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Recursion Tree method 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Substitution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Method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Iteration Method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Recursion Tree Method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Master Method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en-IN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en-IN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22377" y="1600201"/>
            <a:ext cx="67336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     To write the non – recursive part of the tree as root.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     To write the recursive part as the children.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     To write down the amount of work done at each node.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     To keep expanding till we find some pattern.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07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7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075" y="1520283"/>
            <a:ext cx="8222399" cy="1875018"/>
          </a:xfrm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of merge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n ) = 2 T (n / 2 )+ C 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(n/2)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-------Recursive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n --------------Constant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398" y="654196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7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2560638"/>
            <a:ext cx="7730690" cy="379571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400" dirty="0">
                <a:latin typeface="+mn-lt"/>
              </a:rPr>
              <a:t>3. 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total work done. So at level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is Cn. </a:t>
            </a:r>
          </a:p>
          <a:p>
            <a:pPr marL="11430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At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 work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is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2=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at every level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is done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5.  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how many levels there are. In short, find out the height of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</a:p>
          <a:p>
            <a:pPr marL="11430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binary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Let’s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expression for the height of the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 -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[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2 n ] +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143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 are able to find the height of the tree you can compute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work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example at every level Cn work is done so the total work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done </a:t>
            </a:r>
          </a:p>
          <a:p>
            <a:pPr marL="1143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may be  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Cn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Cn + Cn + Cn………. + Cn = 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(nlog</a:t>
            </a:r>
            <a:r>
              <a:rPr lang="en-IN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6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564078" y="2876879"/>
            <a:ext cx="4155131" cy="1653517"/>
          </a:xfrm>
          <a:prstGeom prst="rect">
            <a:avLst/>
          </a:prstGeom>
          <a:ln/>
        </p:spPr>
      </p:pic>
      <p:sp>
        <p:nvSpPr>
          <p:cNvPr id="7" name="Rectangle 6"/>
          <p:cNvSpPr/>
          <p:nvPr/>
        </p:nvSpPr>
        <p:spPr>
          <a:xfrm>
            <a:off x="608092" y="1512084"/>
            <a:ext cx="68299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recursive tree: Take the non-recursive part as the root and take the recursive part as the children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  This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relation contains two recursive calls so write two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children</a:t>
            </a:r>
            <a:r>
              <a:rPr lang="en-IN" dirty="0"/>
              <a:t>.</a:t>
            </a:r>
          </a:p>
        </p:txBody>
      </p:sp>
      <p:pic>
        <p:nvPicPr>
          <p:cNvPr id="8" name="image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564078" y="1436688"/>
            <a:ext cx="1835150" cy="1123950"/>
          </a:xfrm>
          <a:prstGeom prst="rect">
            <a:avLst/>
          </a:prstGeom>
          <a:ln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842" y="6558602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6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8. 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nodes present at every level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spcBef>
                <a:spcPts val="300"/>
              </a:spcBef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Level has 2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nodes- 1 node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Level has 2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nodes- 2 nodes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spcAft>
                <a:spcPts val="3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Level has 2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nodes - 4 nodes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spcBef>
                <a:spcPts val="300"/>
              </a:spcBef>
              <a:spcAft>
                <a:spcPts val="900"/>
              </a:spcAft>
              <a:buNone/>
            </a:pPr>
            <a:r>
              <a:rPr lang="en-IN" sz="2000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        	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Continuing in similar manner, we have-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0" algn="just">
              <a:spcBef>
                <a:spcPts val="300"/>
              </a:spcBef>
              <a:spcAft>
                <a:spcPts val="900"/>
              </a:spcAft>
              <a:buNone/>
            </a:pP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Level-log </a:t>
            </a:r>
            <a:r>
              <a:rPr lang="en-I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has 2 </a:t>
            </a:r>
            <a:r>
              <a:rPr lang="en-I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nodes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300"/>
              </a:spcBef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9. 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of last level-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0" algn="just"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	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of last level = n * T (1) = </a:t>
            </a:r>
            <a:r>
              <a:rPr lang="en-IN" sz="2000" b="1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asymptotic expression values and not the exact values. So for the above example work done becomes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0" algn="just">
              <a:spcBef>
                <a:spcPts val="300"/>
              </a:spcBef>
              <a:spcAft>
                <a:spcPts val="900"/>
              </a:spcAft>
              <a:buNone/>
            </a:pPr>
            <a:r>
              <a:rPr lang="en-IN" sz="2000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Θ (nlog</a:t>
            </a:r>
            <a:r>
              <a:rPr lang="en-IN" sz="2000" b="1" baseline="-25000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>
                <a:solidFill>
                  <a:srgbClr val="30303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38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6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820" y="1662545"/>
            <a:ext cx="5991368" cy="3379718"/>
          </a:xfrm>
        </p:spPr>
        <p:txBody>
          <a:bodyPr>
            <a:normAutofit fontScale="92500" lnSpcReduction="20000"/>
          </a:bodyPr>
          <a:lstStyle/>
          <a:p>
            <a:pPr marL="571500" lvl="1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Tower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Hanoi Problem Recurrence relation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T(n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)=2T(n-1)+C</a:t>
            </a:r>
          </a:p>
          <a:p>
            <a:pPr marL="11430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T(1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)=C</a:t>
            </a:r>
          </a:p>
          <a:p>
            <a:pPr marL="114300" lvl="0" indent="0">
              <a:buNone/>
            </a:pPr>
            <a:endParaRPr lang="en-US" dirty="0" smtClean="0"/>
          </a:p>
          <a:p>
            <a:pPr marL="114300" lvl="0" indent="0">
              <a:buNone/>
            </a:pPr>
            <a:endParaRPr lang="en-IN" dirty="0" smtClean="0"/>
          </a:p>
          <a:p>
            <a:pPr lvl="0">
              <a:buAutoNum type="arabicPeriod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tree: Take the non-recursive part as the root and take the recursive part as the children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lvl="0" indent="0">
              <a:buNone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This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relation contains two recursive calls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two children.</a:t>
            </a:r>
          </a:p>
          <a:p>
            <a:pPr lvl="0">
              <a:buAutoNum type="arabicPeriod"/>
            </a:pPr>
            <a:endParaRPr lang="en-IN" sz="1600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7" name="image1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80037" y="3563982"/>
            <a:ext cx="2768930" cy="1349212"/>
          </a:xfrm>
          <a:prstGeom prst="rect">
            <a:avLst/>
          </a:prstGeom>
          <a:ln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339" y="657225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0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4756150"/>
          </a:xfrm>
        </p:spPr>
        <p:txBody>
          <a:bodyPr>
            <a:normAutofit/>
          </a:bodyPr>
          <a:lstStyle/>
          <a:p>
            <a:pPr marL="0" lvl="0" indent="0" algn="just">
              <a:spcAft>
                <a:spcPts val="800"/>
              </a:spcAft>
              <a:buNone/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3.Compute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total work done. Work done at </a:t>
            </a:r>
          </a:p>
          <a:p>
            <a:pPr marL="1371600" algn="just"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 0- - - - C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algn="just"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 1- - - - 2C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algn="just"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 2- - - - 4C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Find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 how many levels there are. In short, find out the </a:t>
            </a:r>
            <a:endParaRPr lang="en-IN" sz="16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height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this  binary tree. </a:t>
            </a: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Use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expression for the height of the tree</a:t>
            </a:r>
          </a:p>
          <a:p>
            <a:pPr marL="11430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[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2 n ] + </a:t>
            </a:r>
            <a:r>
              <a:rPr lang="en-I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14300" indent="0" algn="just">
              <a:spcBef>
                <a:spcPts val="1200"/>
              </a:spcBef>
              <a:spcAft>
                <a:spcPts val="1200"/>
              </a:spcAft>
              <a:buNone/>
            </a:pPr>
            <a:endParaRPr lang="en-IN" sz="1400" dirty="0" smtClean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image5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252065" y="1417638"/>
            <a:ext cx="3473450" cy="1466850"/>
          </a:xfrm>
          <a:prstGeom prst="rect">
            <a:avLst/>
          </a:prstGeom>
          <a:ln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331903" y="3187333"/>
                <a:ext cx="5829936" cy="22262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0" indent="0" algn="just">
                  <a:spcAft>
                    <a:spcPts val="800"/>
                  </a:spcAft>
                  <a:buNone/>
                </a:pPr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6. For any value of n, you will be Having n Levels </a:t>
                </a:r>
              </a:p>
              <a:p>
                <a:pPr indent="0" algn="just">
                  <a:spcAft>
                    <a:spcPts val="800"/>
                  </a:spcAft>
                  <a:buNone/>
                </a:pPr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Total Work Done 	=  C+2C+4C+- - - - </a:t>
                </a:r>
              </a:p>
              <a:p>
                <a:pPr marL="114300" indent="0" algn="just">
                  <a:spcAft>
                    <a:spcPts val="800"/>
                  </a:spcAft>
                  <a:buNone/>
                </a:pPr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=  C (1+2+4+ - - - - - )</a:t>
                </a:r>
              </a:p>
              <a:p>
                <a:pPr marL="114300" indent="0" algn="just">
                  <a:spcAft>
                    <a:spcPts val="800"/>
                  </a:spcAft>
                  <a:buNone/>
                </a:pPr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       Total work done 	=   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 (2n)</a:t>
                </a:r>
              </a:p>
              <a:p>
                <a:pPr marL="0" lvl="0" indent="0" algn="just">
                  <a:spcAft>
                    <a:spcPts val="800"/>
                  </a:spcAft>
                  <a:buNone/>
                </a:pPr>
                <a:r>
                  <a:rPr lang="en-IN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7. Therefore, the asymptotic expression values and not the exact values could be written. So for the above example work done </a:t>
                </a:r>
                <a:r>
                  <a:rPr lang="en-IN" sz="16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becomes</a:t>
                </a:r>
                <a:r>
                  <a:rPr lang="en-IN" sz="16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  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(2</a:t>
                </a:r>
                <a:r>
                  <a:rPr lang="en-IN" sz="1600" b="1" baseline="30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6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sz="16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903" y="3187333"/>
                <a:ext cx="5829936" cy="2226250"/>
              </a:xfrm>
              <a:prstGeom prst="rect">
                <a:avLst/>
              </a:prstGeom>
              <a:blipFill rotWithShape="0">
                <a:blip r:embed="rId3"/>
                <a:stretch>
                  <a:fillRect l="-628" t="-822" r="-523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624" y="651632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4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2"/>
            <a:ext cx="10945654" cy="4756149"/>
          </a:xfrm>
        </p:spPr>
        <p:txBody>
          <a:bodyPr>
            <a:normAutofit/>
          </a:bodyPr>
          <a:lstStyle/>
          <a:p>
            <a:pPr indent="0" algn="just">
              <a:spcAft>
                <a:spcPts val="800"/>
              </a:spcAft>
              <a:buNone/>
            </a:pP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T(n)=T(n/2) + C</a:t>
            </a:r>
            <a:endParaRPr lang="en-IN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spcAft>
                <a:spcPts val="800"/>
              </a:spcAft>
              <a:buNone/>
            </a:pP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T(1)=C</a:t>
            </a:r>
            <a:endParaRPr lang="en-IN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Draw recursive tree: Take the non-recursive part as the root and       take the recursive part</a:t>
            </a:r>
            <a:endParaRPr lang="en-IN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This recursive relation contains only one recursive call</a:t>
            </a:r>
            <a:endParaRPr lang="en-IN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3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Compute the total work done. Work done at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algn="just">
              <a:spcAft>
                <a:spcPts val="8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Level 0- - - - C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algn="just">
              <a:spcAft>
                <a:spcPts val="8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Level 1- - - - C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algn="just">
              <a:spcAft>
                <a:spcPts val="8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Level 2- - - - C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8" name="image7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895806" y="3551100"/>
            <a:ext cx="1647746" cy="2528670"/>
          </a:xfrm>
          <a:prstGeom prst="rect">
            <a:avLst/>
          </a:prstGeom>
          <a:ln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36" y="656889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4. Find out how many levels there are. In short, find out the height of this binary tree. </a:t>
                </a:r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Use </a:t>
                </a: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expression for the height of the tree</a:t>
                </a:r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[log</a:t>
                </a:r>
                <a:r>
                  <a:rPr lang="en-IN" sz="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2  </a:t>
                </a:r>
                <a:r>
                  <a:rPr lang="en-I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] + 1</a:t>
                </a:r>
                <a:endParaRPr lang="en-IN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N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total work done </a:t>
                </a:r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0" indent="0" algn="just">
                  <a:spcAft>
                    <a:spcPts val="800"/>
                  </a:spcAft>
                  <a:buNone/>
                </a:pP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C+C+C - - - - </a:t>
                </a:r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0" indent="0" algn="just">
                  <a:spcAft>
                    <a:spcPts val="800"/>
                  </a:spcAft>
                  <a:buNone/>
                </a:pP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=(log</a:t>
                </a:r>
                <a:r>
                  <a:rPr lang="en-IN" sz="36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2  </a:t>
                </a:r>
                <a:r>
                  <a:rPr lang="en-IN" sz="3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+ 1)*</a:t>
                </a:r>
                <a:r>
                  <a:rPr lang="en-IN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IN" sz="3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en-IN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Therefore the asymptotic expression values and not the exact values could be written. So for the above example work done becomes   </a:t>
                </a:r>
                <a:endParaRPr lang="en-IN" sz="3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(log</a:t>
                </a:r>
                <a:r>
                  <a:rPr lang="en-IN" sz="16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613" r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932" y="657225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0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3927763"/>
          </a:xfrm>
        </p:spPr>
        <p:txBody>
          <a:bodyPr>
            <a:normAutofit fontScale="62500" lnSpcReduction="20000"/>
          </a:bodyPr>
          <a:lstStyle/>
          <a:p>
            <a:pPr marL="114300" indent="0" algn="just">
              <a:spcAft>
                <a:spcPts val="800"/>
              </a:spcAft>
              <a:buNone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Consider the following recurrence relation which 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spcAft>
                <a:spcPts val="800"/>
              </a:spcAft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T(n)=2T(n/2) + C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T(1)=C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Draw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recursive tree: Take the non-recursive part as the </a:t>
            </a: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    and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the recursive part </a:t>
            </a:r>
            <a:endParaRPr lang="en-IN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relation contains two recursive calls so write two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children.</a:t>
            </a: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Compute the total work done. Work done at 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0- - - - C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1- - - - 2C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2- - - - 4C</a:t>
            </a: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endParaRPr lang="en-IN" dirty="0"/>
          </a:p>
          <a:p>
            <a:pPr marL="514350" indent="-51435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5" name="image2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465126" y="3494233"/>
            <a:ext cx="3318669" cy="1631950"/>
          </a:xfrm>
          <a:prstGeom prst="rect">
            <a:avLst/>
          </a:prstGeom>
          <a:ln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750" y="657860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5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2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4</a:t>
                </a: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 Find out how many levels there are. In short, find out the height of this binary tree. </a:t>
                </a:r>
                <a:endParaRPr lang="en-IN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Use </a:t>
                </a: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expression for the height of the </a:t>
                </a:r>
                <a:r>
                  <a:rPr lang="en-IN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tree </a:t>
                </a:r>
                <a:r>
                  <a:rPr lang="en-IN" sz="20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I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IN" sz="20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2  </a:t>
                </a:r>
                <a:r>
                  <a:rPr lang="en-I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] + 1</a:t>
                </a:r>
                <a:endParaRPr lang="en-IN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Hence </a:t>
                </a: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total work done </a:t>
                </a:r>
                <a:r>
                  <a:rPr lang="en-IN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Total </a:t>
                </a: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</a:t>
                </a:r>
                <a:r>
                  <a:rPr lang="en-IN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done  </a:t>
                </a:r>
                <a14:m>
                  <m:oMath xmlns:m="http://schemas.openxmlformats.org/officeDocument/2006/math">
                    <m:r>
                      <a:rPr lang="en-IN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IN" sz="20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(n)</a:t>
                </a:r>
                <a:endParaRPr lang="en-IN" sz="2000" b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580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0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spcAft>
                <a:spcPts val="800"/>
              </a:spcAft>
              <a:buNone/>
            </a:pPr>
            <a:r>
              <a:rPr lang="en-I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Consider relation</a:t>
            </a: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T(n</a:t>
            </a: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)=T(n/4)+T(n/2)+</a:t>
            </a:r>
            <a:r>
              <a:rPr lang="en-IN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CN</a:t>
            </a:r>
            <a:endParaRPr lang="en-IN" sz="18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spcAft>
                <a:spcPts val="800"/>
              </a:spcAft>
              <a:buNone/>
            </a:pPr>
            <a:r>
              <a:rPr lang="en-IN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T(1</a:t>
            </a: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)=</a:t>
            </a:r>
            <a:r>
              <a:rPr lang="en-IN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18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28650" indent="-514350">
              <a:spcAft>
                <a:spcPts val="800"/>
              </a:spcAft>
              <a:buAutoNum type="arabicPeriod"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recurrence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  <a:p>
            <a:pPr marL="628650" indent="-514350">
              <a:spcAft>
                <a:spcPts val="800"/>
              </a:spcAft>
              <a:buFont typeface="Arial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going further we will get</a:t>
            </a:r>
          </a:p>
          <a:p>
            <a:pPr marL="628650" indent="-514350">
              <a:spcAft>
                <a:spcPts val="800"/>
              </a:spcAft>
              <a:buAutoNum type="arabicPeriod"/>
            </a:pP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6" name="image2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152816" y="1798616"/>
            <a:ext cx="4539823" cy="2529544"/>
          </a:xfrm>
          <a:prstGeom prst="rect">
            <a:avLst/>
          </a:prstGeom>
          <a:ln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 to determine upper bound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977" y="657225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4756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Now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might have guessed the Pattern 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Work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done 	at level 0- - - - -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spcAft>
                <a:spcPts val="8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	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 1- - - - - 3Cn/4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at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 2- - - - - </a:t>
            </a: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9Cn/16</a:t>
            </a:r>
          </a:p>
          <a:p>
            <a:pPr marL="914400" indent="0" algn="just">
              <a:spcAft>
                <a:spcPts val="800"/>
              </a:spcAft>
              <a:buNone/>
            </a:pPr>
            <a:endParaRPr lang="en-IN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You might have observed that it is a geometric progression with r = 3/4 up to a certain point because leaf nodes are not at the same level. </a:t>
            </a:r>
          </a:p>
          <a:p>
            <a:pPr marL="0" indent="0" algn="just">
              <a:buNone/>
            </a:pP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The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side of the tree is going to end earlier than the right side of the tree. 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As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see, the left side is being divided by 4 and the right side is being divided by 2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</a:p>
          <a:p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5" name="image21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563605" y="1448732"/>
            <a:ext cx="4539823" cy="2529544"/>
          </a:xfrm>
          <a:prstGeom prst="rect">
            <a:avLst/>
          </a:prstGeom>
          <a:ln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103" y="650782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9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190537" cy="452596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buNone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To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exact bound becomes very difficult in such cases. By making the assumption that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 is full; the value calculated may be more than that of the actual value because we are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performing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 work. That is what the upper bound is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Total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done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Cn+3Cn/4+9Cn/16- - - - - - - -  (log    n) terms in series.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To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upper bound we will use big oh notation.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endParaRPr lang="en-IN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07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9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1" y="1600201"/>
            <a:ext cx="11115335" cy="4582235"/>
          </a:xfrm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complexity it is defined as the order of growth of memory or RAM Space in the terms of input size. 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</a:t>
            </a: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complexity: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Ɵ(1)</a:t>
            </a:r>
          </a:p>
          <a:p>
            <a:pPr marL="0" indent="0" algn="just">
              <a:spcAft>
                <a:spcPts val="800"/>
              </a:spcAft>
              <a:buNone/>
            </a:pP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calculate (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return n 12+5)/2;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above example depending on the input size the number of variable do not changers. 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Consider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that n= 10000 then also variable remains only one. 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909" y="6538913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9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3442062"/>
          </a:xfrm>
        </p:spPr>
        <p:txBody>
          <a:bodyPr>
            <a:normAutofit fontScale="25000" lnSpcReduction="20000"/>
          </a:bodyPr>
          <a:lstStyle/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complexity: Ɵ(1)</a:t>
            </a: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endParaRPr lang="en-IN" sz="1200" i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sum=0;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8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IN" sz="8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 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( </a:t>
            </a:r>
            <a:r>
              <a:rPr lang="en-IN" sz="8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8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=1 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IN" sz="8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&lt;=( n-5 </a:t>
            </a:r>
            <a:r>
              <a:rPr lang="en-IN" sz="8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 </a:t>
            </a:r>
            <a:r>
              <a:rPr lang="en-IN" sz="8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+ )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       sum= </a:t>
            </a:r>
            <a:r>
              <a:rPr lang="en-IN" sz="8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sum 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IN" sz="8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return sum;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3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8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8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8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In </a:t>
            </a:r>
            <a:r>
              <a:rPr lang="en-IN" sz="8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above example also the input size doesn't make any difference for number of variables. </a:t>
            </a:r>
            <a:endParaRPr lang="en-IN" sz="8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8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Hence </a:t>
            </a:r>
            <a:r>
              <a:rPr lang="en-IN" sz="8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space complexity doesn’t change.</a:t>
            </a:r>
            <a:endParaRPr lang="en-IN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52" y="6572250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3442062"/>
          </a:xfrm>
        </p:spPr>
        <p:txBody>
          <a:bodyPr>
            <a:normAutofit fontScale="92500" lnSpcReduction="20000"/>
          </a:bodyPr>
          <a:lstStyle/>
          <a:p>
            <a:pPr marL="0" lvl="1" indent="0" algn="just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Complexity :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Ɵ </a:t>
            </a: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(n)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 O </a:t>
            </a: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(n)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1" indent="0" algn="just">
              <a:spcAft>
                <a:spcPts val="800"/>
              </a:spcAft>
              <a:buNone/>
            </a:pPr>
            <a:r>
              <a:rPr lang="en-I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sumarray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arrone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 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pPr marL="1028700" lvl="2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028700" lvl="2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sum=0;</a:t>
            </a:r>
          </a:p>
          <a:p>
            <a:pPr marL="1028700" lvl="2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for 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n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+ )</a:t>
            </a:r>
          </a:p>
          <a:p>
            <a:pPr marL="1028700" lvl="2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sum = sum +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arrone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];</a:t>
            </a:r>
          </a:p>
          <a:p>
            <a:pPr marL="1028700" lvl="2" indent="0">
              <a:buNone/>
            </a:pP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sum;</a:t>
            </a:r>
          </a:p>
          <a:p>
            <a:pPr marL="1028700" lvl="2" indent="0">
              <a:buNone/>
            </a:pP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571500" lvl="1" indent="0">
              <a:buNone/>
            </a:pPr>
            <a:endParaRPr lang="en-IN" sz="1300" dirty="0"/>
          </a:p>
          <a:p>
            <a:pPr marL="114300" indent="0">
              <a:buNone/>
            </a:pPr>
            <a:r>
              <a:rPr lang="en-I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Input array </a:t>
            </a:r>
            <a:r>
              <a:rPr lang="en-IN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 of size 1000 then complexity </a:t>
            </a:r>
            <a:r>
              <a:rPr lang="en-I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will  be </a:t>
            </a:r>
            <a:r>
              <a:rPr lang="en-IN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different than that of if the array size is suppose 10000</a:t>
            </a:r>
            <a:r>
              <a:rPr lang="en-I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Continued……..</a:t>
            </a:r>
            <a:endParaRPr lang="en-IN" sz="4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500" y="6578601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of Auxiliary 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497874"/>
            <a:ext cx="10945654" cy="4955177"/>
          </a:xfrm>
        </p:spPr>
        <p:txBody>
          <a:bodyPr>
            <a:normAutofit lnSpcReduction="10000"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Auxiliary Space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This term refers to the order of growth of extra space or temporary space in terms of input size. 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complexity : </a:t>
            </a:r>
            <a:r>
              <a:rPr lang="en-IN" sz="2000" dirty="0"/>
              <a:t>Ɵ </a:t>
            </a:r>
            <a:r>
              <a:rPr lang="en-IN" sz="2000" dirty="0" smtClean="0"/>
              <a:t>(n) 		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uxiliary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Ɵ (1) </a:t>
            </a:r>
            <a:endParaRPr lang="en-IN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endParaRPr lang="en-IN" sz="2000" dirty="0" smtClean="0"/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sumarr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arrone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[ ],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 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  <a:r>
              <a:rPr lang="en-IN" sz="20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sum=0;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0;i 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 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n;i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+ )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        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sum 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=sum +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arrone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en-I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];</a:t>
            </a:r>
            <a:endParaRPr lang="en-I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    return sum</a:t>
            </a:r>
            <a:r>
              <a:rPr lang="en-IN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marL="914400" lvl="2" indent="0" algn="just">
              <a:lnSpc>
                <a:spcPts val="1200"/>
              </a:lnSpc>
              <a:spcAft>
                <a:spcPts val="800"/>
              </a:spcAft>
              <a:buNone/>
            </a:pPr>
            <a:endParaRPr lang="en-IN" sz="1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I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Note : The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space complexity for programs using array will be at least Ɵ (n)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499" y="6533287"/>
            <a:ext cx="56483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4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252875ef3f_0_7"/>
          <p:cNvSpPr txBox="1">
            <a:spLocks noGrp="1"/>
          </p:cNvSpPr>
          <p:nvPr>
            <p:ph type="body" idx="1"/>
          </p:nvPr>
        </p:nvSpPr>
        <p:spPr>
          <a:xfrm>
            <a:off x="608092" y="1600201"/>
            <a:ext cx="10945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endParaRPr lang="en-US" sz="5300" dirty="0" smtClean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endParaRPr lang="en-US" sz="5300" dirty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5" name="Google Shape;815;g1252875ef3f_0_7"/>
          <p:cNvSpPr txBox="1">
            <a:spLocks noGrp="1"/>
          </p:cNvSpPr>
          <p:nvPr>
            <p:ph type="sldNum" idx="12"/>
          </p:nvPr>
        </p:nvSpPr>
        <p:spPr>
          <a:xfrm>
            <a:off x="8715984" y="6356351"/>
            <a:ext cx="2837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487" y="6578576"/>
            <a:ext cx="5648325" cy="28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1120</Words>
  <Application>Microsoft Office PowerPoint</Application>
  <PresentationFormat>Custom</PresentationFormat>
  <Paragraphs>427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Times New Roman</vt:lpstr>
      <vt:lpstr>Office Theme</vt:lpstr>
      <vt:lpstr>Competitive Coding Using Data Structure </vt:lpstr>
      <vt:lpstr>Learning Outcome</vt:lpstr>
      <vt:lpstr>Contents</vt:lpstr>
      <vt:lpstr>Single Loop behaviour analysis </vt:lpstr>
      <vt:lpstr>Continued……..</vt:lpstr>
      <vt:lpstr>Continued……..</vt:lpstr>
      <vt:lpstr>Multiple Loop behaviour analysis </vt:lpstr>
      <vt:lpstr>Continued……..</vt:lpstr>
      <vt:lpstr>             Analysis of multiple loops</vt:lpstr>
      <vt:lpstr>Analysis of Loops</vt:lpstr>
      <vt:lpstr>Recursion tree method for solving recurrences </vt:lpstr>
      <vt:lpstr>Recursion tree method for solving recurrences </vt:lpstr>
      <vt:lpstr>Solving Recurrence</vt:lpstr>
      <vt:lpstr>Continued……..</vt:lpstr>
      <vt:lpstr>Recursion Tree method</vt:lpstr>
      <vt:lpstr>Continued……..</vt:lpstr>
      <vt:lpstr>Continued……..</vt:lpstr>
      <vt:lpstr>Continued……..</vt:lpstr>
      <vt:lpstr>Continued……..</vt:lpstr>
      <vt:lpstr>Continued……..</vt:lpstr>
      <vt:lpstr>Continued……..</vt:lpstr>
      <vt:lpstr>Continued……..</vt:lpstr>
      <vt:lpstr>Continued……..</vt:lpstr>
      <vt:lpstr>Continued……..</vt:lpstr>
      <vt:lpstr>Recursion Tree Method to determine upper bound</vt:lpstr>
      <vt:lpstr>Continued……..</vt:lpstr>
      <vt:lpstr>Continued……..</vt:lpstr>
      <vt:lpstr>Space Complexity</vt:lpstr>
      <vt:lpstr>Continued……..</vt:lpstr>
      <vt:lpstr>Continued……..</vt:lpstr>
      <vt:lpstr>Space complexity of Auxiliary space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Vehicles  Prof. Mangesh R. Mahajan Department of Mechanical Engineering School of Polytechnic and Skill Development</dc:title>
  <dc:creator>Mahajan</dc:creator>
  <cp:lastModifiedBy>user</cp:lastModifiedBy>
  <cp:revision>29</cp:revision>
  <dcterms:created xsi:type="dcterms:W3CDTF">2020-11-06T09:35:01Z</dcterms:created>
  <dcterms:modified xsi:type="dcterms:W3CDTF">2023-01-19T10:19:55Z</dcterms:modified>
</cp:coreProperties>
</file>