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45" r:id="rId2"/>
    <p:sldId id="348" r:id="rId3"/>
    <p:sldId id="270" r:id="rId4"/>
    <p:sldId id="349" r:id="rId5"/>
    <p:sldId id="339" r:id="rId6"/>
    <p:sldId id="340" r:id="rId7"/>
    <p:sldId id="341" r:id="rId8"/>
    <p:sldId id="342" r:id="rId9"/>
    <p:sldId id="34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92"/>
  </p:normalViewPr>
  <p:slideViewPr>
    <p:cSldViewPr snapToGrid="0">
      <p:cViewPr varScale="1">
        <p:scale>
          <a:sx n="114" d="100"/>
          <a:sy n="114" d="100"/>
        </p:scale>
        <p:origin x="49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68468-E4E8-4E3D-9D74-35B6D01047CE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B89C1-7C94-4DB5-93C8-708E8E2FC1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6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7" name="Google Shape;19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© Copyright Showeet.com – Free PowerPoint Templates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8" name="Google Shape;190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7" name="Google Shape;19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© Copyright Showeet.com – Free PowerPoint Templates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08" name="Google Shape;190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3058-80BE-443B-9517-605238D1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9FB50-48B1-4808-B2AF-C8EC1130B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47B32-7E83-449E-821D-C2C9C6AE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316E4-7C7B-4A21-9589-C81CA908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5EA1-F08A-4C84-A0AD-8226CEFCD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8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F921-8A1B-49EA-A083-41BD531F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F471-BAAB-4364-ACA4-E0BC8F49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F9133-ED59-4D13-ADD5-62478E45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5C5B2-1C87-4CC6-A528-A729871C5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F6B55-BEB5-4FA4-B2AD-EBEBDB3D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7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0995-509A-4F30-AA56-6898AAB7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126C8-42FD-4D95-9A22-585E4D4C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1A7F-2981-4DBF-812D-73E7F8B7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FEB11-53E8-43B9-A3FB-E5A92DA8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00ED7-458A-40C8-9665-80D5D54D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26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F8F2-D41A-4E97-865E-B0C1477F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6D389-F942-445F-B4EA-57C1A1DAF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055F9-98EC-447C-BB4F-DF6CD8AEC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F7A46-4253-4BCF-BB1D-F6120867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CDF94-943F-4C37-B977-EEB12F72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B6D72-A50F-41FE-B87C-638756EB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7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A933-11A1-46BA-AE10-C1C147D7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5B06-DD6F-4324-B01A-F8420C69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7EE07-A40A-4642-A019-EB0485D02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1A7EF-CF18-4E12-8631-68BC0D97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642C2-A1E6-43CA-B797-4870FB90B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FAF30-3C8B-4AAA-913E-D12C795F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B1128-06A4-4F6E-8827-A901FF78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CD2D4-AAA6-4196-B652-A2636F83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9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4EEB-3102-401A-A14E-AD7F5622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9452D-63C5-4C9D-9F17-B263216C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221FA-8866-44A7-A243-D640477F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91B66-D0FD-4F16-A3CF-388CB3E1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3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E7A25-330D-4A30-9D58-2FE4AD24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43F9F-0AD4-4757-8A09-421C5887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22A90-9B92-4B32-BC57-0C78A000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7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5920-BA91-48F7-9F54-37E154D0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487F-7B7F-4144-8763-744E1C8AB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21BA1-03E0-4A3C-8B0F-7A2ECD230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4343A-8C6E-4527-AE7E-7D215D81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B4FDC-A6BD-44DC-9C8B-505EB0EB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722E7-64F6-48CD-BE5F-79C0F096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4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5F64-0872-44A3-89DD-771E6A5D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20A3A-D689-40C5-867B-4221C1D79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15-4FC2-44F9-8ACE-1059FDECF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DAD18-E550-4020-A223-8BB51DDE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0867A-1411-4620-A661-C54C8804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D194-669D-4633-85BD-AEFA5CD5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6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C96C-24AD-4A9A-B9AE-40AEBCE3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2B9BE-28F7-4CDA-9CC0-CC9D91310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B457-AA80-416F-931E-42D22A32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15EE1-A7F5-4810-A7D1-C12E6F4E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01013-91FF-49B3-9081-5E9C91B6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8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32FF4-9586-4843-8B39-A23C70260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4B12A-98F6-4159-B220-F57041112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AE24F-D641-486F-A1D3-7C74FF9A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C03AE-3BF6-4A9B-8A31-EA9B59E8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C2766-BF37-4F8E-823C-336DF610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4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" y="-9731"/>
            <a:ext cx="12191999" cy="1181306"/>
          </a:xfrm>
          <a:prstGeom prst="rect">
            <a:avLst/>
          </a:prstGeom>
          <a:solidFill>
            <a:srgbClr val="273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4372"/>
            <a:ext cx="10515600" cy="67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600" y="6466116"/>
            <a:ext cx="2743200" cy="281437"/>
          </a:xfrm>
        </p:spPr>
        <p:txBody>
          <a:bodyPr/>
          <a:lstStyle>
            <a:lvl1pPr>
              <a:defRPr>
                <a:solidFill>
                  <a:srgbClr val="576973"/>
                </a:solidFill>
              </a:defRPr>
            </a:lvl1pPr>
          </a:lstStyle>
          <a:p>
            <a:r>
              <a:rPr lang="en-US"/>
              <a:t>your date here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66116"/>
            <a:ext cx="4114800" cy="281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76973"/>
                </a:solidFill>
              </a:defRPr>
            </a:lvl1pPr>
          </a:lstStyle>
          <a:p>
            <a:r>
              <a:rPr lang="en-US"/>
              <a:t>Unit I- Data Preprocessing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66201" y="6466116"/>
            <a:ext cx="2743200" cy="28143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576973"/>
                </a:solidFill>
              </a:defRPr>
            </a:lvl1pPr>
          </a:lstStyle>
          <a:p>
            <a:fld id="{6E18DBF4-37B7-4C4F-9728-A1C100B177E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/>
          <p:cNvGrpSpPr/>
          <p:nvPr userDrawn="1"/>
        </p:nvGrpSpPr>
        <p:grpSpPr>
          <a:xfrm>
            <a:off x="0" y="6766560"/>
            <a:ext cx="12192000" cy="91440"/>
            <a:chOff x="0" y="4480421"/>
            <a:chExt cx="12192000" cy="91440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4480421"/>
              <a:ext cx="2439924" cy="91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2439924" y="4480421"/>
              <a:ext cx="2439924" cy="914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879848" y="4480421"/>
              <a:ext cx="2439924" cy="914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7319772" y="4480421"/>
              <a:ext cx="2439924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prstClr val="white"/>
                </a:solidFill>
              </a:endParaRPr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759696" y="4480421"/>
              <a:ext cx="2432304" cy="914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96428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DD7C5-4036-4194-9897-4E6831E3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792CB-EED4-439C-BF2B-213F3759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6199A-A15D-4E4E-9E9F-39DAEA724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C5B16-CF2D-4AC5-B941-DDFFC6846772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2934F-DBB3-4A23-AC20-C834572B7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2E83E-36AA-4AC0-9127-2915E10B0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073CE-6126-450D-8F92-7FD51EFD7D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4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84"/>
          <p:cNvSpPr/>
          <p:nvPr/>
        </p:nvSpPr>
        <p:spPr>
          <a:xfrm>
            <a:off x="2580284" y="316619"/>
            <a:ext cx="96117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Subject : Data Engineering Techniques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1" name="Google Shape;1911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6874" y="1416930"/>
            <a:ext cx="5056908" cy="1386244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84"/>
          <p:cNvSpPr txBox="1"/>
          <p:nvPr/>
        </p:nvSpPr>
        <p:spPr>
          <a:xfrm>
            <a:off x="4089777" y="6280880"/>
            <a:ext cx="4329228" cy="5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Flagship University of MIT Group of Institutions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MIT-WPU is recognized by UGC and Approved by AICTE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84"/>
          <p:cNvSpPr txBox="1">
            <a:spLocks noGrp="1"/>
          </p:cNvSpPr>
          <p:nvPr>
            <p:ph type="title"/>
          </p:nvPr>
        </p:nvSpPr>
        <p:spPr>
          <a:xfrm>
            <a:off x="838200" y="3590652"/>
            <a:ext cx="10515600" cy="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b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(Computer Engineering and Technology)</a:t>
            </a:r>
            <a:b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32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SYB.Tech</a:t>
            </a: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dirty="0"/>
          </a:p>
        </p:txBody>
      </p:sp>
      <p:sp>
        <p:nvSpPr>
          <p:cNvPr id="1914" name="Google Shape;1914;p84"/>
          <p:cNvSpPr txBox="1"/>
          <p:nvPr/>
        </p:nvSpPr>
        <p:spPr>
          <a:xfrm>
            <a:off x="8625386" y="6386876"/>
            <a:ext cx="3566610" cy="47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M. Tech.  (Computer Science &amp; Engineering)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5" name="Google Shape;1915;p84" descr="Final MIT-WPU 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1716"/>
            <a:ext cx="2580284" cy="1157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84"/>
          <p:cNvSpPr txBox="1"/>
          <p:nvPr/>
        </p:nvSpPr>
        <p:spPr>
          <a:xfrm>
            <a:off x="4089777" y="6280880"/>
            <a:ext cx="4329228" cy="5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Flagship University of MIT Group of Institutions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MIT-WPU is recognized by UGC and Approved by AICTE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84"/>
          <p:cNvSpPr txBox="1">
            <a:spLocks noGrp="1"/>
          </p:cNvSpPr>
          <p:nvPr>
            <p:ph type="title"/>
          </p:nvPr>
        </p:nvSpPr>
        <p:spPr>
          <a:xfrm>
            <a:off x="838200" y="2799471"/>
            <a:ext cx="10515600" cy="146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b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Lab Assignment No 5</a:t>
            </a:r>
            <a:b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Association Rule Mining Using </a:t>
            </a:r>
            <a:r>
              <a:rPr lang="en-US" sz="32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Apriori</a:t>
            </a:r>
            <a:r>
              <a:rPr lang="en-US" sz="32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 dirty="0"/>
          </a:p>
        </p:txBody>
      </p:sp>
      <p:sp>
        <p:nvSpPr>
          <p:cNvPr id="1914" name="Google Shape;1914;p84"/>
          <p:cNvSpPr txBox="1"/>
          <p:nvPr/>
        </p:nvSpPr>
        <p:spPr>
          <a:xfrm>
            <a:off x="8625386" y="6386876"/>
            <a:ext cx="3566610" cy="47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M. Tech.  (Computer Science &amp; Engineering)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5" name="Google Shape;1915;p84" descr="Final MIT-WPU 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716"/>
            <a:ext cx="2580284" cy="11579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910;p84"/>
          <p:cNvSpPr/>
          <p:nvPr/>
        </p:nvSpPr>
        <p:spPr>
          <a:xfrm>
            <a:off x="2580284" y="316619"/>
            <a:ext cx="96117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Subject : Data Engineering Techniques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197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FFFFFF"/>
                </a:solidFill>
              </a:rPr>
              <a:t>Apriori</a:t>
            </a:r>
            <a:r>
              <a:rPr sz="3950" spc="-50" dirty="0">
                <a:solidFill>
                  <a:srgbClr val="FFFFFF"/>
                </a:solidFill>
              </a:rPr>
              <a:t> </a:t>
            </a:r>
            <a:r>
              <a:rPr sz="3950" dirty="0">
                <a:solidFill>
                  <a:srgbClr val="FFFFFF"/>
                </a:solidFill>
              </a:rPr>
              <a:t>Algorithm</a:t>
            </a:r>
            <a:r>
              <a:rPr sz="3950" spc="-50" dirty="0">
                <a:solidFill>
                  <a:srgbClr val="FFFFFF"/>
                </a:solidFill>
              </a:rPr>
              <a:t> </a:t>
            </a:r>
            <a:r>
              <a:rPr sz="3950" spc="-10" dirty="0">
                <a:solidFill>
                  <a:srgbClr val="FFFFFF"/>
                </a:solidFill>
              </a:rPr>
              <a:t>Flowchart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923" y="1321116"/>
            <a:ext cx="3996646" cy="48172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00891" y="6466776"/>
            <a:ext cx="1797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0652" y="244372"/>
            <a:ext cx="7893148" cy="67310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Apriori</a:t>
            </a:r>
            <a:r>
              <a:rPr lang="en-IN" dirty="0"/>
              <a:t> Algorithm</a:t>
            </a:r>
            <a:endParaRPr lang="en-US" dirty="0"/>
          </a:p>
        </p:txBody>
      </p:sp>
      <p:pic>
        <p:nvPicPr>
          <p:cNvPr id="3" name="Google Shape;1915;p84" descr="Final MIT-WPU logo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1716"/>
            <a:ext cx="2580284" cy="115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057400" y="1257782"/>
            <a:ext cx="8305800" cy="5216525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Iterative 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also called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level-wise search):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Find all 1-item frequent </a:t>
            </a:r>
            <a:r>
              <a:rPr kumimoji="0" lang="en-GB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then all 2-item frequent </a:t>
            </a:r>
            <a:r>
              <a:rPr kumimoji="0" lang="en-GB" sz="2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GB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so on.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3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each iteration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only consider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contain some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k-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frequent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Find frequent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size 1: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From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2</a:t>
            </a: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000" b="0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candidates of size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those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size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could be frequent, given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3000" b="0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3000" b="0" i="1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those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itemsets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that are actually frequent,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sz="3000" b="0" i="1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000" b="0" i="1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itchFamily="18" charset="2"/>
              </a:rPr>
              <a:t>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sz="3000" b="0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sz="3000" b="0" i="1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(need to scan the database once)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6289F2-3D85-4FAF-991F-F83C5E7FF2AA}" type="slidenum">
              <a:rPr lang="en-US" altLang="en-US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4" y="333375"/>
            <a:ext cx="6313487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800" dirty="0"/>
              <a:t>Example – </a:t>
            </a:r>
            <a:br>
              <a:rPr lang="en-US" sz="3800" dirty="0"/>
            </a:br>
            <a:r>
              <a:rPr lang="en-US" sz="3800" dirty="0"/>
              <a:t>Finding frequent </a:t>
            </a:r>
            <a:r>
              <a:rPr lang="en-US" sz="3800" dirty="0" err="1"/>
              <a:t>itemsets</a:t>
            </a:r>
            <a:endParaRPr lang="en-US" sz="3800" dirty="0"/>
          </a:p>
        </p:txBody>
      </p:sp>
      <p:sp>
        <p:nvSpPr>
          <p:cNvPr id="20485" name="Rectangle 3"/>
          <p:cNvSpPr>
            <a:spLocks noChangeArrowheads="1"/>
          </p:cNvSpPr>
          <p:nvPr/>
        </p:nvSpPr>
        <p:spPr bwMode="auto">
          <a:xfrm>
            <a:off x="6553200" y="228600"/>
            <a:ext cx="2057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sz="2600"/>
              <a:t>Dataset T</a:t>
            </a:r>
          </a:p>
          <a:p>
            <a:pPr marL="342900" indent="-342900"/>
            <a:r>
              <a:rPr lang="en-US" sz="2600"/>
              <a:t>	</a:t>
            </a:r>
          </a:p>
        </p:txBody>
      </p:sp>
      <p:graphicFrame>
        <p:nvGraphicFramePr>
          <p:cNvPr id="655364" name="Group 4"/>
          <p:cNvGraphicFramePr>
            <a:graphicFrameLocks noGrp="1"/>
          </p:cNvGraphicFramePr>
          <p:nvPr/>
        </p:nvGraphicFramePr>
        <p:xfrm>
          <a:off x="8458200" y="304801"/>
          <a:ext cx="2057400" cy="2013585"/>
        </p:xfrm>
        <a:graphic>
          <a:graphicData uri="http://schemas.openxmlformats.org/drawingml/2006/table">
            <a:tbl>
              <a:tblPr/>
              <a:tblGrid>
                <a:gridCol w="8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1, 3, 4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T200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2, 3, 5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T300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1, 2, 3, 5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T400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06" name="Text Box 25"/>
          <p:cNvSpPr txBox="1">
            <a:spLocks noChangeArrowheads="1"/>
          </p:cNvSpPr>
          <p:nvPr/>
        </p:nvSpPr>
        <p:spPr bwMode="auto">
          <a:xfrm>
            <a:off x="2133600" y="2097089"/>
            <a:ext cx="8305800" cy="382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0" hangingPunct="0">
              <a:spcBef>
                <a:spcPct val="50000"/>
              </a:spcBef>
            </a:pPr>
            <a:r>
              <a:rPr lang="en-US" sz="2400" dirty="0">
                <a:latin typeface="Times New Roman" pitchFamily="18" charset="0"/>
              </a:rPr>
              <a:t>			   </a:t>
            </a:r>
            <a:r>
              <a:rPr lang="en-US" sz="2400" dirty="0" err="1">
                <a:latin typeface="Times New Roman" pitchFamily="18" charset="0"/>
              </a:rPr>
              <a:t>itemset:count</a:t>
            </a:r>
            <a:endParaRPr lang="en-US" sz="2400" dirty="0">
              <a:latin typeface="Times New Roman" pitchFamily="18" charset="0"/>
            </a:endParaRP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</a:rPr>
              <a:t>1. scan T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</a:rPr>
              <a:t>{1}:2, {2}:3, {3}:3, {4}:1, {5}:3</a:t>
            </a:r>
            <a:endParaRPr lang="en-US" sz="2400" baseline="-25000" dirty="0">
              <a:latin typeface="Times New Roman" pitchFamily="18" charset="0"/>
            </a:endParaRP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</a:rPr>
              <a:t>	  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</a:rPr>
              <a:t>: 	   </a:t>
            </a:r>
            <a:r>
              <a:rPr lang="en-US" sz="2000" dirty="0">
                <a:latin typeface="Times New Roman" pitchFamily="18" charset="0"/>
              </a:rPr>
              <a:t>{1}:2, {2}:3, {3}:3,             {5}:3</a:t>
            </a: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baseline="-25000" dirty="0">
                <a:latin typeface="Times New Roman" pitchFamily="18" charset="0"/>
              </a:rPr>
              <a:t>	   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:        </a:t>
            </a:r>
            <a:r>
              <a:rPr lang="en-US" sz="2000" dirty="0">
                <a:latin typeface="Times New Roman" pitchFamily="18" charset="0"/>
              </a:rPr>
              <a:t>{1,2}, {1,3}, {1,5}, {2,3}, {2,5}, {3,5}</a:t>
            </a:r>
            <a:endParaRPr lang="en-US" sz="2400" dirty="0">
              <a:latin typeface="Times New Roman" pitchFamily="18" charset="0"/>
            </a:endParaRP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</a:rPr>
              <a:t>2.</a:t>
            </a:r>
            <a:r>
              <a:rPr lang="en-US" sz="2400" baseline="-25000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scan T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: {</a:t>
            </a:r>
            <a:r>
              <a:rPr lang="en-US" sz="2000" dirty="0">
                <a:latin typeface="Times New Roman" pitchFamily="18" charset="0"/>
              </a:rPr>
              <a:t>1,2}:1, {1,3}:2, {1,5}:1, {2,3}:2, {2,5}:3, {3,5}:2</a:t>
            </a:r>
            <a:endParaRPr lang="en-US" sz="2400" dirty="0">
              <a:latin typeface="Times New Roman" pitchFamily="18" charset="0"/>
              <a:sym typeface="Wingdings" pitchFamily="2" charset="2"/>
            </a:endParaRP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  <a:sym typeface="Wingdings" pitchFamily="2" charset="2"/>
              </a:rPr>
              <a:t>          </a:t>
            </a:r>
            <a:r>
              <a:rPr lang="en-US" sz="2400" dirty="0">
                <a:latin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:                    {</a:t>
            </a:r>
            <a:r>
              <a:rPr lang="en-US" sz="2000" b="1" dirty="0">
                <a:latin typeface="Times New Roman" pitchFamily="18" charset="0"/>
              </a:rPr>
              <a:t>1,3}</a:t>
            </a:r>
            <a:r>
              <a:rPr lang="en-US" sz="2000" dirty="0">
                <a:latin typeface="Times New Roman" pitchFamily="18" charset="0"/>
              </a:rPr>
              <a:t>:2,               {</a:t>
            </a:r>
            <a:r>
              <a:rPr lang="en-US" sz="2000" b="1" dirty="0">
                <a:latin typeface="Times New Roman" pitchFamily="18" charset="0"/>
              </a:rPr>
              <a:t>2,3}</a:t>
            </a:r>
            <a:r>
              <a:rPr lang="en-US" sz="2000" dirty="0">
                <a:latin typeface="Times New Roman" pitchFamily="18" charset="0"/>
              </a:rPr>
              <a:t>:2, {</a:t>
            </a:r>
            <a:r>
              <a:rPr lang="en-US" sz="2000" b="1" dirty="0">
                <a:latin typeface="Times New Roman" pitchFamily="18" charset="0"/>
              </a:rPr>
              <a:t>2,5}:</a:t>
            </a:r>
            <a:r>
              <a:rPr lang="en-US" sz="2000" dirty="0">
                <a:latin typeface="Times New Roman" pitchFamily="18" charset="0"/>
              </a:rPr>
              <a:t>3, {</a:t>
            </a:r>
            <a:r>
              <a:rPr lang="en-US" sz="2000" b="1" dirty="0">
                <a:latin typeface="Times New Roman" pitchFamily="18" charset="0"/>
              </a:rPr>
              <a:t>3,5}</a:t>
            </a:r>
            <a:r>
              <a:rPr lang="en-US" sz="2000" dirty="0">
                <a:latin typeface="Times New Roman" pitchFamily="18" charset="0"/>
              </a:rPr>
              <a:t>:2</a:t>
            </a:r>
            <a:endParaRPr lang="en-US" sz="2400" dirty="0">
              <a:latin typeface="Times New Roman" pitchFamily="18" charset="0"/>
            </a:endParaRPr>
          </a:p>
          <a:p>
            <a:pPr marL="914400" lvl="1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</a:rPr>
              <a:t>  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:</a:t>
            </a:r>
            <a:r>
              <a:rPr lang="en-US" sz="2400" baseline="-25000" dirty="0">
                <a:latin typeface="Times New Roman" pitchFamily="18" charset="0"/>
              </a:rPr>
              <a:t>           </a:t>
            </a:r>
            <a:r>
              <a:rPr lang="en-US" sz="2000" dirty="0">
                <a:latin typeface="Times New Roman" pitchFamily="18" charset="0"/>
              </a:rPr>
              <a:t>{2, 3,5}</a:t>
            </a:r>
          </a:p>
          <a:p>
            <a:pPr marL="457200" indent="-457200" eaLnBrk="0" hangingPunct="0">
              <a:spcBef>
                <a:spcPct val="30000"/>
              </a:spcBef>
            </a:pPr>
            <a:r>
              <a:rPr lang="en-US" sz="2400" dirty="0">
                <a:latin typeface="Times New Roman" pitchFamily="18" charset="0"/>
              </a:rPr>
              <a:t>3. scan T </a:t>
            </a:r>
            <a:r>
              <a:rPr lang="en-US" sz="2400" dirty="0">
                <a:latin typeface="Times New Roman" pitchFamily="18" charset="0"/>
                <a:sym typeface="Wingdings" pitchFamily="2" charset="2"/>
              </a:rPr>
              <a:t> </a:t>
            </a:r>
            <a:r>
              <a:rPr lang="en-US" sz="2400" dirty="0">
                <a:latin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: </a:t>
            </a:r>
            <a:r>
              <a:rPr lang="en-US" sz="2000" dirty="0"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2, 3, 5}</a:t>
            </a:r>
            <a:r>
              <a:rPr lang="en-US" sz="2000" dirty="0">
                <a:latin typeface="Times New Roman" pitchFamily="18" charset="0"/>
              </a:rPr>
              <a:t>:2 </a:t>
            </a:r>
            <a:r>
              <a:rPr lang="en-US" sz="2400" dirty="0">
                <a:latin typeface="Tahoma" pitchFamily="34" charset="0"/>
                <a:sym typeface="Wingdings" pitchFamily="2" charset="2"/>
              </a:rPr>
              <a:t> </a:t>
            </a:r>
            <a:r>
              <a:rPr lang="en-US" sz="2400" dirty="0">
                <a:latin typeface="Tahoma" pitchFamily="34" charset="0"/>
              </a:rPr>
              <a:t>F</a:t>
            </a:r>
            <a:r>
              <a:rPr lang="en-US" sz="2400" baseline="-25000" dirty="0">
                <a:latin typeface="Tahoma" pitchFamily="34" charset="0"/>
              </a:rPr>
              <a:t>3: </a:t>
            </a:r>
            <a:r>
              <a:rPr lang="en-US" sz="2000" dirty="0">
                <a:latin typeface="Times New Roman" pitchFamily="18" charset="0"/>
              </a:rPr>
              <a:t>{</a:t>
            </a:r>
            <a:r>
              <a:rPr lang="en-US" sz="2000" b="1" dirty="0">
                <a:latin typeface="Times New Roman" pitchFamily="18" charset="0"/>
              </a:rPr>
              <a:t>2, 3, 5}</a:t>
            </a:r>
          </a:p>
        </p:txBody>
      </p:sp>
      <p:sp>
        <p:nvSpPr>
          <p:cNvPr id="20507" name="Text Box 26"/>
          <p:cNvSpPr txBox="1">
            <a:spLocks noChangeArrowheads="1"/>
          </p:cNvSpPr>
          <p:nvPr/>
        </p:nvSpPr>
        <p:spPr bwMode="auto">
          <a:xfrm>
            <a:off x="6564313" y="620713"/>
            <a:ext cx="182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minsup=0.5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22EC24-0F57-4FF6-936C-18C4A2726376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 err="1"/>
              <a:t>Apriori</a:t>
            </a:r>
            <a:r>
              <a:rPr lang="en-GB" dirty="0"/>
              <a:t> Algorithm</a:t>
            </a:r>
            <a:endParaRPr lang="en-US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60967"/>
            <a:ext cx="8470900" cy="499538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Algorithm </a:t>
            </a:r>
            <a:r>
              <a:rPr lang="en-US" altLang="ja-JP" sz="2100" b="1" dirty="0" err="1">
                <a:ea typeface="ＭＳ Ｐゴシック" pitchFamily="34" charset="-128"/>
              </a:rPr>
              <a:t>Apriori</a:t>
            </a:r>
            <a:r>
              <a:rPr lang="en-US" altLang="ja-JP" sz="2100" b="1" dirty="0">
                <a:ea typeface="ＭＳ Ｐゴシック" pitchFamily="34" charset="-128"/>
              </a:rPr>
              <a:t>(</a:t>
            </a:r>
            <a:r>
              <a:rPr lang="en-US" altLang="ja-JP" sz="2100" b="1" i="1" dirty="0">
                <a:ea typeface="ＭＳ Ｐゴシック" pitchFamily="34" charset="-128"/>
              </a:rPr>
              <a:t>T</a:t>
            </a:r>
            <a:r>
              <a:rPr lang="en-US" altLang="ja-JP" sz="2100" b="1" dirty="0">
                <a:ea typeface="ＭＳ Ｐゴシック" pitchFamily="34" charset="-128"/>
              </a:rPr>
              <a:t>)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C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 err="1">
                <a:ea typeface="ＭＳ Ｐゴシック" pitchFamily="34" charset="-128"/>
              </a:rPr>
              <a:t>init</a:t>
            </a:r>
            <a:r>
              <a:rPr lang="en-US" altLang="ja-JP" sz="2100" dirty="0">
                <a:ea typeface="ＭＳ Ｐゴシック" pitchFamily="34" charset="-128"/>
              </a:rPr>
              <a:t>-pass(</a:t>
            </a:r>
            <a:r>
              <a:rPr lang="en-US" altLang="ja-JP" sz="2100" i="1" dirty="0">
                <a:ea typeface="ＭＳ Ｐゴシック" pitchFamily="34" charset="-128"/>
              </a:rPr>
              <a:t>T</a:t>
            </a:r>
            <a:r>
              <a:rPr lang="en-US" altLang="ja-JP" sz="2100" dirty="0">
                <a:ea typeface="ＭＳ Ｐゴシック" pitchFamily="34" charset="-128"/>
              </a:rPr>
              <a:t>); 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F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{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dirty="0">
                <a:ea typeface="ＭＳ Ｐゴシック" pitchFamily="34" charset="-128"/>
              </a:rPr>
              <a:t> |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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</a:t>
            </a:r>
            <a:r>
              <a:rPr lang="en-US" altLang="ja-JP" sz="2100" i="1" dirty="0" err="1">
                <a:ea typeface="ＭＳ Ｐゴシック" pitchFamily="34" charset="-128"/>
              </a:rPr>
              <a:t>f</a:t>
            </a:r>
            <a:r>
              <a:rPr lang="en-US" altLang="ja-JP" sz="2100" dirty="0" err="1">
                <a:ea typeface="ＭＳ Ｐゴシック" pitchFamily="34" charset="-128"/>
              </a:rPr>
              <a:t>.count</a:t>
            </a:r>
            <a:r>
              <a:rPr lang="en-US" altLang="ja-JP" sz="2100" dirty="0">
                <a:ea typeface="ＭＳ Ｐゴシック" pitchFamily="34" charset="-128"/>
              </a:rPr>
              <a:t>/</a:t>
            </a:r>
            <a:r>
              <a:rPr lang="en-US" altLang="ja-JP" sz="2100" i="1" dirty="0">
                <a:ea typeface="ＭＳ Ｐゴシック" pitchFamily="34" charset="-128"/>
              </a:rPr>
              <a:t>n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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 err="1">
                <a:ea typeface="ＭＳ Ｐゴシック" pitchFamily="34" charset="-128"/>
              </a:rPr>
              <a:t>minsup</a:t>
            </a:r>
            <a:r>
              <a:rPr lang="en-US" altLang="ja-JP" sz="2100" dirty="0">
                <a:ea typeface="ＭＳ Ｐゴシック" pitchFamily="34" charset="-128"/>
              </a:rPr>
              <a:t>};    // n: no. of transactions in 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for</a:t>
            </a:r>
            <a:r>
              <a:rPr lang="en-US" altLang="ja-JP" sz="2100" dirty="0">
                <a:ea typeface="ＭＳ Ｐゴシック" pitchFamily="34" charset="-128"/>
              </a:rPr>
              <a:t> (</a:t>
            </a:r>
            <a:r>
              <a:rPr lang="en-US" altLang="ja-JP" sz="2100" i="1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= 2;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ea typeface="ＭＳ Ｐゴシック" pitchFamily="34" charset="-128"/>
              </a:rPr>
              <a:t>k-1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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</a:t>
            </a:r>
            <a:r>
              <a:rPr lang="en-US" altLang="ja-JP" sz="2100" dirty="0">
                <a:ea typeface="ＭＳ Ｐゴシック" pitchFamily="34" charset="-128"/>
              </a:rPr>
              <a:t>; </a:t>
            </a:r>
            <a:r>
              <a:rPr lang="en-US" altLang="ja-JP" sz="2100" i="1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++) </a:t>
            </a:r>
            <a:r>
              <a:rPr lang="en-US" altLang="ja-JP" sz="2100" b="1" dirty="0">
                <a:ea typeface="ＭＳ Ｐゴシック" pitchFamily="34" charset="-128"/>
              </a:rPr>
              <a:t>do	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	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candidate-gen(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for</a:t>
            </a:r>
            <a:r>
              <a:rPr lang="en-US" altLang="ja-JP" sz="2100" dirty="0">
                <a:ea typeface="ＭＳ Ｐゴシック" pitchFamily="34" charset="-128"/>
              </a:rPr>
              <a:t> each transaction </a:t>
            </a:r>
            <a:r>
              <a:rPr lang="en-US" altLang="ja-JP" sz="2100" i="1" dirty="0">
                <a:ea typeface="ＭＳ Ｐゴシック" pitchFamily="34" charset="-128"/>
              </a:rPr>
              <a:t>t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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T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b="1" dirty="0">
                <a:ea typeface="ＭＳ Ｐゴシック" pitchFamily="34" charset="-128"/>
              </a:rPr>
              <a:t>do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    for</a:t>
            </a:r>
            <a:r>
              <a:rPr lang="en-US" altLang="ja-JP" sz="2100" dirty="0">
                <a:ea typeface="ＭＳ Ｐゴシック" pitchFamily="34" charset="-128"/>
              </a:rPr>
              <a:t> each candidate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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b="1" dirty="0">
                <a:ea typeface="ＭＳ Ｐゴシック" pitchFamily="34" charset="-128"/>
              </a:rPr>
              <a:t>do</a:t>
            </a:r>
            <a:r>
              <a:rPr lang="en-US" altLang="ja-JP" sz="2100" dirty="0">
                <a:ea typeface="ＭＳ Ｐゴシック" pitchFamily="34" charset="-128"/>
              </a:rPr>
              <a:t> 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	if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 is contained in </a:t>
            </a:r>
            <a:r>
              <a:rPr lang="en-US" altLang="ja-JP" sz="2100" i="1" dirty="0">
                <a:ea typeface="ＭＳ Ｐゴシック" pitchFamily="34" charset="-128"/>
              </a:rPr>
              <a:t>t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b="1" dirty="0">
                <a:ea typeface="ＭＳ Ｐゴシック" pitchFamily="34" charset="-128"/>
              </a:rPr>
              <a:t>then</a:t>
            </a:r>
            <a:r>
              <a:rPr lang="en-US" altLang="ja-JP" sz="2100" dirty="0">
                <a:ea typeface="ＭＳ Ｐゴシック" pitchFamily="34" charset="-128"/>
              </a:rPr>
              <a:t>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		   </a:t>
            </a:r>
            <a:r>
              <a:rPr lang="en-US" altLang="ja-JP" sz="2100" i="1" dirty="0" err="1">
                <a:ea typeface="ＭＳ Ｐゴシック" pitchFamily="34" charset="-128"/>
              </a:rPr>
              <a:t>c</a:t>
            </a:r>
            <a:r>
              <a:rPr lang="en-US" altLang="ja-JP" sz="2100" dirty="0" err="1">
                <a:ea typeface="ＭＳ Ｐゴシック" pitchFamily="34" charset="-128"/>
              </a:rPr>
              <a:t>.</a:t>
            </a:r>
            <a:r>
              <a:rPr lang="en-US" altLang="ja-JP" sz="2100" i="1" dirty="0" err="1">
                <a:ea typeface="ＭＳ Ｐゴシック" pitchFamily="34" charset="-128"/>
              </a:rPr>
              <a:t>count</a:t>
            </a:r>
            <a:r>
              <a:rPr lang="en-US" altLang="ja-JP" sz="2100" dirty="0">
                <a:ea typeface="ＭＳ Ｐゴシック" pitchFamily="34" charset="-128"/>
              </a:rPr>
              <a:t>++;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    end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end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       </a:t>
            </a:r>
            <a:r>
              <a:rPr lang="en-US" altLang="ja-JP" sz="2100" i="1" dirty="0" err="1">
                <a:ea typeface="ＭＳ Ｐゴシック" pitchFamily="34" charset="-128"/>
              </a:rPr>
              <a:t>F</a:t>
            </a:r>
            <a:r>
              <a:rPr lang="en-US" altLang="ja-JP" sz="2100" i="1" baseline="-25000" dirty="0" err="1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{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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| </a:t>
            </a:r>
            <a:r>
              <a:rPr lang="en-US" altLang="ja-JP" sz="2100" i="1" dirty="0" err="1">
                <a:ea typeface="ＭＳ Ｐゴシック" pitchFamily="34" charset="-128"/>
              </a:rPr>
              <a:t>c</a:t>
            </a:r>
            <a:r>
              <a:rPr lang="en-US" altLang="ja-JP" sz="2100" dirty="0" err="1">
                <a:ea typeface="ＭＳ Ｐゴシック" pitchFamily="34" charset="-128"/>
              </a:rPr>
              <a:t>.</a:t>
            </a:r>
            <a:r>
              <a:rPr lang="en-US" altLang="ja-JP" sz="2100" i="1" dirty="0" err="1">
                <a:ea typeface="ＭＳ Ｐゴシック" pitchFamily="34" charset="-128"/>
              </a:rPr>
              <a:t>count</a:t>
            </a:r>
            <a:r>
              <a:rPr lang="en-US" altLang="ja-JP" sz="2100" i="1" dirty="0">
                <a:ea typeface="ＭＳ Ｐゴシック" pitchFamily="34" charset="-128"/>
              </a:rPr>
              <a:t>/n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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 err="1">
                <a:ea typeface="ＭＳ Ｐゴシック" pitchFamily="34" charset="-128"/>
              </a:rPr>
              <a:t>minsup</a:t>
            </a:r>
            <a:r>
              <a:rPr lang="en-US" altLang="ja-JP" sz="2100" dirty="0">
                <a:ea typeface="ＭＳ Ｐゴシック" pitchFamily="34" charset="-128"/>
              </a:rPr>
              <a:t>}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end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return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MT Extra" pitchFamily="18" charset="2"/>
              </a:rPr>
              <a:t></a:t>
            </a:r>
            <a:r>
              <a:rPr lang="en-US" altLang="ja-JP" sz="2100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 err="1">
                <a:ea typeface="ＭＳ Ｐゴシック" pitchFamily="34" charset="-128"/>
              </a:rPr>
              <a:t>F</a:t>
            </a:r>
            <a:r>
              <a:rPr lang="en-US" altLang="ja-JP" sz="2100" baseline="-25000" dirty="0" err="1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;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5560D0-8653-41D3-8C9A-C8BAAB9C6C0C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0" y="457200"/>
            <a:ext cx="7208838" cy="1143000"/>
          </a:xfrm>
        </p:spPr>
        <p:txBody>
          <a:bodyPr/>
          <a:lstStyle/>
          <a:p>
            <a:pPr eaLnBrk="1" hangingPunct="1"/>
            <a:r>
              <a:rPr lang="en-GB"/>
              <a:t>Apriori candidate generation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7238" y="1628776"/>
            <a:ext cx="7772400" cy="39608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/>
              <a:t>The </a:t>
            </a:r>
            <a:r>
              <a:rPr lang="en-GB">
                <a:solidFill>
                  <a:srgbClr val="FF0000"/>
                </a:solidFill>
              </a:rPr>
              <a:t>candidate-gen</a:t>
            </a:r>
            <a:r>
              <a:rPr lang="en-GB"/>
              <a:t> function takes </a:t>
            </a:r>
            <a:r>
              <a:rPr lang="en-GB" i="1">
                <a:solidFill>
                  <a:srgbClr val="FF0000"/>
                </a:solidFill>
              </a:rPr>
              <a:t>F</a:t>
            </a:r>
            <a:r>
              <a:rPr lang="en-GB" i="1" baseline="-25000">
                <a:solidFill>
                  <a:srgbClr val="FF0000"/>
                </a:solidFill>
              </a:rPr>
              <a:t>k</a:t>
            </a:r>
            <a:r>
              <a:rPr lang="en-GB" baseline="-25000">
                <a:solidFill>
                  <a:srgbClr val="FF0000"/>
                </a:solidFill>
              </a:rPr>
              <a:t>-1</a:t>
            </a:r>
            <a:r>
              <a:rPr lang="en-GB"/>
              <a:t> and returns a </a:t>
            </a:r>
            <a:r>
              <a:rPr lang="en-GB">
                <a:solidFill>
                  <a:srgbClr val="FF0000"/>
                </a:solidFill>
              </a:rPr>
              <a:t>superset</a:t>
            </a:r>
            <a:r>
              <a:rPr lang="en-GB">
                <a:solidFill>
                  <a:schemeClr val="hlink"/>
                </a:solidFill>
              </a:rPr>
              <a:t> </a:t>
            </a:r>
            <a:r>
              <a:rPr lang="en-GB">
                <a:solidFill>
                  <a:srgbClr val="3333CC"/>
                </a:solidFill>
              </a:rPr>
              <a:t>(called the candidates)</a:t>
            </a:r>
            <a:r>
              <a:rPr lang="en-GB">
                <a:solidFill>
                  <a:schemeClr val="hlink"/>
                </a:solidFill>
              </a:rPr>
              <a:t> </a:t>
            </a:r>
            <a:r>
              <a:rPr lang="en-GB"/>
              <a:t>of the set of all </a:t>
            </a:r>
            <a:r>
              <a:rPr lang="en-GB">
                <a:solidFill>
                  <a:srgbClr val="FF0000"/>
                </a:solidFill>
              </a:rPr>
              <a:t>frequent </a:t>
            </a:r>
            <a:r>
              <a:rPr lang="en-GB" i="1">
                <a:solidFill>
                  <a:srgbClr val="FF0000"/>
                </a:solidFill>
              </a:rPr>
              <a:t>k</a:t>
            </a:r>
            <a:r>
              <a:rPr lang="en-GB">
                <a:solidFill>
                  <a:srgbClr val="FF0000"/>
                </a:solidFill>
              </a:rPr>
              <a:t>-itemsets</a:t>
            </a:r>
            <a:r>
              <a:rPr lang="en-GB"/>
              <a:t>.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/>
              <a:t>It has two steps</a:t>
            </a:r>
          </a:p>
          <a:p>
            <a:pPr marL="742950" lvl="1" indent="-285750"/>
            <a:r>
              <a:rPr lang="en-GB" i="1">
                <a:solidFill>
                  <a:srgbClr val="3333CC"/>
                </a:solidFill>
              </a:rPr>
              <a:t>join</a:t>
            </a:r>
            <a:r>
              <a:rPr lang="en-GB">
                <a:solidFill>
                  <a:srgbClr val="3333CC"/>
                </a:solidFill>
              </a:rPr>
              <a:t> step</a:t>
            </a:r>
            <a:r>
              <a:rPr lang="en-GB"/>
              <a:t>: Generate all possible candidate itemsets </a:t>
            </a:r>
            <a:r>
              <a:rPr lang="en-US" altLang="ja-JP" i="1">
                <a:ea typeface="ＭＳ Ｐゴシック" pitchFamily="34" charset="-128"/>
              </a:rPr>
              <a:t>C</a:t>
            </a:r>
            <a:r>
              <a:rPr lang="en-US" altLang="ja-JP" i="1" baseline="-25000">
                <a:ea typeface="ＭＳ Ｐゴシック" pitchFamily="34" charset="-128"/>
              </a:rPr>
              <a:t>k</a:t>
            </a:r>
            <a:r>
              <a:rPr lang="en-GB"/>
              <a:t> of length </a:t>
            </a:r>
            <a:r>
              <a:rPr lang="en-GB" i="1"/>
              <a:t>k</a:t>
            </a:r>
            <a:r>
              <a:rPr lang="en-GB"/>
              <a:t> </a:t>
            </a:r>
          </a:p>
          <a:p>
            <a:pPr marL="742950" lvl="1" indent="-285750"/>
            <a:r>
              <a:rPr lang="en-GB" i="1">
                <a:solidFill>
                  <a:srgbClr val="3333CC"/>
                </a:solidFill>
              </a:rPr>
              <a:t>prune</a:t>
            </a:r>
            <a:r>
              <a:rPr lang="en-GB">
                <a:solidFill>
                  <a:srgbClr val="3333CC"/>
                </a:solidFill>
              </a:rPr>
              <a:t> step</a:t>
            </a:r>
            <a:r>
              <a:rPr lang="en-GB"/>
              <a:t>: Remove those candidates in </a:t>
            </a:r>
            <a:r>
              <a:rPr lang="en-US" altLang="ja-JP" i="1">
                <a:ea typeface="ＭＳ Ｐゴシック" pitchFamily="34" charset="-128"/>
              </a:rPr>
              <a:t>C</a:t>
            </a:r>
            <a:r>
              <a:rPr lang="en-US" altLang="ja-JP" i="1" baseline="-25000">
                <a:ea typeface="ＭＳ Ｐゴシック" pitchFamily="34" charset="-128"/>
              </a:rPr>
              <a:t>k</a:t>
            </a:r>
            <a:r>
              <a:rPr lang="en-GB"/>
              <a:t> that cannot be frequent.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DE16734-5F85-43DB-87C9-B675866BF75F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Candidate-gen function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690688"/>
            <a:ext cx="8229600" cy="4432301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Function</a:t>
            </a:r>
            <a:r>
              <a:rPr lang="en-US" altLang="ja-JP" sz="2100" dirty="0">
                <a:ea typeface="ＭＳ Ｐゴシック" pitchFamily="34" charset="-128"/>
              </a:rPr>
              <a:t> candidate-gen(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)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</a:t>
            </a:r>
            <a:r>
              <a:rPr lang="en-US" altLang="ja-JP" sz="2100" dirty="0">
                <a:ea typeface="ＭＳ Ｐゴシック" pitchFamily="34" charset="-128"/>
              </a:rPr>
              <a:t>;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</a:t>
            </a:r>
            <a:r>
              <a:rPr lang="en-US" altLang="ja-JP" sz="2100" b="1" dirty="0" err="1">
                <a:ea typeface="ＭＳ Ｐゴシック" pitchFamily="34" charset="-128"/>
              </a:rPr>
              <a:t>forall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ea typeface="ＭＳ Ｐゴシック" pitchFamily="34" charset="-128"/>
              </a:rPr>
              <a:t>2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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		with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 = {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… , 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i="1" baseline="-25000" dirty="0">
                <a:ea typeface="ＭＳ Ｐゴシック" pitchFamily="34" charset="-128"/>
              </a:rPr>
              <a:t>k-</a:t>
            </a:r>
            <a:r>
              <a:rPr lang="en-US" altLang="ja-JP" sz="2100" baseline="-25000" dirty="0">
                <a:ea typeface="ＭＳ Ｐゴシック" pitchFamily="34" charset="-128"/>
              </a:rPr>
              <a:t>2</a:t>
            </a:r>
            <a:r>
              <a:rPr lang="en-US" altLang="ja-JP" sz="2100" dirty="0">
                <a:ea typeface="ＭＳ Ｐゴシック" pitchFamily="34" charset="-128"/>
              </a:rPr>
              <a:t>, 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i="1" baseline="-25000" dirty="0">
                <a:ea typeface="ＭＳ Ｐゴシック" pitchFamily="34" charset="-128"/>
              </a:rPr>
              <a:t>k-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}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		and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ea typeface="ＭＳ Ｐゴシック" pitchFamily="34" charset="-128"/>
              </a:rPr>
              <a:t>2</a:t>
            </a:r>
            <a:r>
              <a:rPr lang="en-US" altLang="ja-JP" sz="2100" dirty="0">
                <a:ea typeface="ＭＳ Ｐゴシック" pitchFamily="34" charset="-128"/>
              </a:rPr>
              <a:t> = {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… , 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i="1" baseline="-25000" dirty="0">
                <a:ea typeface="ＭＳ Ｐゴシック" pitchFamily="34" charset="-128"/>
              </a:rPr>
              <a:t>k-</a:t>
            </a:r>
            <a:r>
              <a:rPr lang="en-US" altLang="ja-JP" sz="2100" baseline="-25000" dirty="0">
                <a:ea typeface="ＭＳ Ｐゴシック" pitchFamily="34" charset="-128"/>
              </a:rPr>
              <a:t>2</a:t>
            </a:r>
            <a:r>
              <a:rPr lang="en-US" altLang="ja-JP" sz="2100" dirty="0">
                <a:ea typeface="ＭＳ Ｐゴシック" pitchFamily="34" charset="-128"/>
              </a:rPr>
              <a:t>, </a:t>
            </a:r>
            <a:r>
              <a:rPr lang="en-US" altLang="ja-JP" sz="2100" i="1" dirty="0">
                <a:ea typeface="ＭＳ Ｐゴシック" pitchFamily="34" charset="-128"/>
              </a:rPr>
              <a:t>i’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}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		and 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 &lt; </a:t>
            </a:r>
            <a:r>
              <a:rPr lang="en-US" altLang="ja-JP" sz="2100" i="1" dirty="0">
                <a:ea typeface="ＭＳ Ｐゴシック" pitchFamily="34" charset="-128"/>
              </a:rPr>
              <a:t>i’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b="1" dirty="0">
                <a:ea typeface="ＭＳ Ｐゴシック" pitchFamily="34" charset="-128"/>
              </a:rPr>
              <a:t>do</a:t>
            </a:r>
            <a:r>
              <a:rPr lang="en-US" altLang="ja-JP" sz="2100" dirty="0">
                <a:ea typeface="ＭＳ Ｐゴシック" pitchFamily="34" charset="-128"/>
              </a:rPr>
              <a:t>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    c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{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…, </a:t>
            </a:r>
            <a:r>
              <a:rPr lang="en-US" altLang="ja-JP" sz="2100" i="1" dirty="0">
                <a:ea typeface="ＭＳ Ｐゴシック" pitchFamily="34" charset="-128"/>
              </a:rPr>
              <a:t>i</a:t>
            </a:r>
            <a:r>
              <a:rPr lang="en-US" altLang="ja-JP" sz="2100" i="1" baseline="-25000" dirty="0">
                <a:ea typeface="ＭＳ Ｐゴシック" pitchFamily="34" charset="-128"/>
              </a:rPr>
              <a:t>k-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, </a:t>
            </a:r>
            <a:r>
              <a:rPr lang="en-US" altLang="ja-JP" sz="2100" i="1" dirty="0">
                <a:ea typeface="ＭＳ Ｐゴシック" pitchFamily="34" charset="-128"/>
              </a:rPr>
              <a:t>i’</a:t>
            </a:r>
            <a:r>
              <a:rPr lang="en-US" altLang="ja-JP" sz="2100" i="1" baseline="-25000" dirty="0">
                <a:ea typeface="ＭＳ Ｐゴシック" pitchFamily="34" charset="-128"/>
              </a:rPr>
              <a:t>k-</a:t>
            </a:r>
            <a:r>
              <a:rPr lang="en-US" altLang="ja-JP" sz="2100" baseline="-25000" dirty="0">
                <a:ea typeface="ＭＳ Ｐゴシック" pitchFamily="34" charset="-128"/>
              </a:rPr>
              <a:t>1</a:t>
            </a:r>
            <a:r>
              <a:rPr lang="en-US" altLang="ja-JP" sz="2100" dirty="0">
                <a:ea typeface="ＭＳ Ｐゴシック" pitchFamily="34" charset="-128"/>
              </a:rPr>
              <a:t>}; 		</a:t>
            </a:r>
            <a:r>
              <a:rPr lang="en-US" altLang="ja-JP" sz="2100" dirty="0">
                <a:solidFill>
                  <a:srgbClr val="3333CC"/>
                </a:solidFill>
                <a:ea typeface="ＭＳ Ｐゴシック" pitchFamily="34" charset="-128"/>
              </a:rPr>
              <a:t>// join </a:t>
            </a:r>
            <a:r>
              <a:rPr lang="en-US" altLang="ja-JP" sz="2100" i="1" dirty="0">
                <a:solidFill>
                  <a:srgbClr val="3333CC"/>
                </a:solidFill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solidFill>
                  <a:srgbClr val="3333CC"/>
                </a:solidFill>
                <a:ea typeface="ＭＳ Ｐゴシック" pitchFamily="34" charset="-128"/>
              </a:rPr>
              <a:t>1</a:t>
            </a:r>
            <a:r>
              <a:rPr lang="en-US" altLang="ja-JP" sz="2100" dirty="0">
                <a:solidFill>
                  <a:srgbClr val="3333CC"/>
                </a:solidFill>
                <a:ea typeface="ＭＳ Ｐゴシック" pitchFamily="34" charset="-128"/>
              </a:rPr>
              <a:t> and </a:t>
            </a:r>
            <a:r>
              <a:rPr lang="en-US" altLang="ja-JP" sz="2100" i="1" dirty="0">
                <a:solidFill>
                  <a:srgbClr val="3333CC"/>
                </a:solidFill>
                <a:ea typeface="ＭＳ Ｐゴシック" pitchFamily="34" charset="-128"/>
              </a:rPr>
              <a:t>f</a:t>
            </a:r>
            <a:r>
              <a:rPr lang="en-US" altLang="ja-JP" sz="2100" baseline="-25000" dirty="0">
                <a:solidFill>
                  <a:srgbClr val="3333CC"/>
                </a:solidFill>
                <a:ea typeface="ＭＳ Ｐゴシック" pitchFamily="34" charset="-128"/>
              </a:rPr>
              <a:t>2</a:t>
            </a:r>
            <a:endParaRPr lang="en-US" altLang="ja-JP" sz="2100" i="1" dirty="0">
              <a:solidFill>
                <a:srgbClr val="3333CC"/>
              </a:solidFill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i="1" dirty="0">
                <a:ea typeface="ＭＳ Ｐゴシック" pitchFamily="34" charset="-128"/>
              </a:rPr>
              <a:t>	    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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</a:t>
            </a:r>
            <a:r>
              <a:rPr lang="en-US" altLang="ja-JP" sz="2100" dirty="0">
                <a:ea typeface="ＭＳ Ｐゴシック" pitchFamily="34" charset="-128"/>
              </a:rPr>
              <a:t> {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}; 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    for </a:t>
            </a:r>
            <a:r>
              <a:rPr lang="en-US" altLang="ja-JP" sz="2100" dirty="0">
                <a:ea typeface="ＭＳ Ｐゴシック" pitchFamily="34" charset="-128"/>
              </a:rPr>
              <a:t>each (</a:t>
            </a:r>
            <a:r>
              <a:rPr lang="en-US" altLang="ja-JP" sz="2100" i="1" dirty="0">
                <a:ea typeface="ＭＳ Ｐゴシック" pitchFamily="34" charset="-128"/>
              </a:rPr>
              <a:t>k-</a:t>
            </a:r>
            <a:r>
              <a:rPr lang="en-US" altLang="ja-JP" sz="2100" dirty="0">
                <a:ea typeface="ＭＳ Ｐゴシック" pitchFamily="34" charset="-128"/>
              </a:rPr>
              <a:t>1)-subset </a:t>
            </a:r>
            <a:r>
              <a:rPr lang="en-US" altLang="ja-JP" sz="2100" i="1" dirty="0">
                <a:ea typeface="ＭＳ Ｐゴシック" pitchFamily="34" charset="-128"/>
              </a:rPr>
              <a:t>s</a:t>
            </a:r>
            <a:r>
              <a:rPr lang="en-US" altLang="ja-JP" sz="2100" dirty="0">
                <a:ea typeface="ＭＳ Ｐゴシック" pitchFamily="34" charset="-128"/>
              </a:rPr>
              <a:t> of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b="1" dirty="0">
                <a:ea typeface="ＭＳ Ｐゴシック" pitchFamily="34" charset="-128"/>
              </a:rPr>
              <a:t>do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	if </a:t>
            </a:r>
            <a:r>
              <a:rPr lang="en-US" altLang="ja-JP" sz="2100" dirty="0">
                <a:ea typeface="ＭＳ Ｐゴシック" pitchFamily="34" charset="-128"/>
              </a:rPr>
              <a:t>(</a:t>
            </a:r>
            <a:r>
              <a:rPr lang="en-US" altLang="ja-JP" sz="2100" i="1" dirty="0">
                <a:ea typeface="ＭＳ Ｐゴシック" pitchFamily="34" charset="-128"/>
              </a:rPr>
              <a:t>s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dirty="0">
                <a:ea typeface="ＭＳ Ｐゴシック" pitchFamily="34" charset="-128"/>
                <a:sym typeface="Symbol" pitchFamily="18" charset="2"/>
              </a:rPr>
              <a:t></a:t>
            </a:r>
            <a:r>
              <a:rPr lang="en-US" altLang="ja-JP" sz="2100" dirty="0">
                <a:ea typeface="ＭＳ Ｐゴシック" pitchFamily="34" charset="-128"/>
              </a:rPr>
              <a:t> </a:t>
            </a:r>
            <a:r>
              <a:rPr lang="en-US" altLang="ja-JP" sz="2100" i="1" dirty="0">
                <a:ea typeface="ＭＳ Ｐゴシック" pitchFamily="34" charset="-128"/>
              </a:rPr>
              <a:t>F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baseline="-25000" dirty="0">
                <a:ea typeface="ＭＳ Ｐゴシック" pitchFamily="34" charset="-128"/>
              </a:rPr>
              <a:t>-1</a:t>
            </a:r>
            <a:r>
              <a:rPr lang="en-US" altLang="ja-JP" sz="2100" dirty="0">
                <a:ea typeface="ＭＳ Ｐゴシック" pitchFamily="34" charset="-128"/>
              </a:rPr>
              <a:t>) </a:t>
            </a:r>
            <a:r>
              <a:rPr lang="en-US" altLang="ja-JP" sz="2100" b="1" dirty="0">
                <a:ea typeface="ＭＳ Ｐゴシック" pitchFamily="34" charset="-128"/>
              </a:rPr>
              <a:t>then</a:t>
            </a:r>
            <a:r>
              <a:rPr lang="en-US" altLang="ja-JP" sz="2100" dirty="0">
                <a:ea typeface="ＭＳ Ｐゴシック" pitchFamily="34" charset="-128"/>
              </a:rPr>
              <a:t>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		    delete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dirty="0">
                <a:ea typeface="ＭＳ Ｐゴシック" pitchFamily="34" charset="-128"/>
              </a:rPr>
              <a:t> from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;		</a:t>
            </a:r>
            <a:r>
              <a:rPr lang="en-US" altLang="ja-JP" sz="2100" dirty="0">
                <a:solidFill>
                  <a:srgbClr val="3333CC"/>
                </a:solidFill>
                <a:ea typeface="ＭＳ Ｐゴシック" pitchFamily="34" charset="-128"/>
              </a:rPr>
              <a:t>// prune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    end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b="1" dirty="0">
                <a:ea typeface="ＭＳ Ｐゴシック" pitchFamily="34" charset="-128"/>
              </a:rPr>
              <a:t>	end</a:t>
            </a:r>
            <a:r>
              <a:rPr lang="en-US" altLang="ja-JP" sz="2100" dirty="0">
                <a:ea typeface="ＭＳ Ｐゴシック" pitchFamily="34" charset="-128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ja-JP" sz="2100" dirty="0">
                <a:ea typeface="ＭＳ Ｐゴシック" pitchFamily="34" charset="-128"/>
              </a:rPr>
              <a:t>	return </a:t>
            </a:r>
            <a:r>
              <a:rPr lang="en-US" altLang="ja-JP" sz="2100" i="1" dirty="0">
                <a:ea typeface="ＭＳ Ｐゴシック" pitchFamily="34" charset="-128"/>
              </a:rPr>
              <a:t>C</a:t>
            </a:r>
            <a:r>
              <a:rPr lang="en-US" altLang="ja-JP" sz="2100" i="1" baseline="-25000" dirty="0">
                <a:ea typeface="ＭＳ Ｐゴシック" pitchFamily="34" charset="-128"/>
              </a:rPr>
              <a:t>k</a:t>
            </a:r>
            <a:r>
              <a:rPr lang="en-US" altLang="ja-JP" sz="2100" dirty="0">
                <a:ea typeface="ＭＳ Ｐゴシック" pitchFamily="34" charset="-128"/>
              </a:rPr>
              <a:t>; 	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1A529B-8A05-4749-88B6-033FD28E8602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An example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7238" y="1449388"/>
            <a:ext cx="8107362" cy="4799012"/>
          </a:xfrm>
        </p:spPr>
        <p:txBody>
          <a:bodyPr/>
          <a:lstStyle/>
          <a:p>
            <a:pPr eaLnBrk="1" hangingPunct="1"/>
            <a:r>
              <a:rPr lang="en-GB" sz="2600" i="1"/>
              <a:t>F</a:t>
            </a:r>
            <a:r>
              <a:rPr lang="en-GB" sz="2600" baseline="-25000"/>
              <a:t>3</a:t>
            </a:r>
            <a:r>
              <a:rPr lang="en-GB" sz="2600"/>
              <a:t> = {{1, 2,  3}, {1,  2,  4}, {1,  3,  4},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600"/>
              <a:t>			{1,  3,  5}, {2,  3,  4}}</a:t>
            </a:r>
          </a:p>
          <a:p>
            <a:pPr eaLnBrk="1" hangingPunct="1">
              <a:buFont typeface="Wingdings" pitchFamily="2" charset="2"/>
              <a:buNone/>
            </a:pPr>
            <a:endParaRPr lang="en-GB" sz="2600"/>
          </a:p>
          <a:p>
            <a:pPr eaLnBrk="1" hangingPunct="1"/>
            <a:r>
              <a:rPr lang="en-GB" sz="2600"/>
              <a:t>After join	</a:t>
            </a:r>
          </a:p>
          <a:p>
            <a:pPr marL="742950" lvl="1" indent="-285750"/>
            <a:r>
              <a:rPr lang="en-GB" sz="2200" i="1"/>
              <a:t>C</a:t>
            </a:r>
            <a:r>
              <a:rPr lang="en-GB" baseline="-25000"/>
              <a:t>4</a:t>
            </a:r>
            <a:r>
              <a:rPr lang="en-GB" sz="2200"/>
              <a:t> = {{1,  2,  3,  4}, {1,  3,  4,  5}}</a:t>
            </a:r>
          </a:p>
          <a:p>
            <a:pPr eaLnBrk="1" hangingPunct="1"/>
            <a:r>
              <a:rPr lang="en-GB" sz="2600"/>
              <a:t>After pruning:</a:t>
            </a:r>
          </a:p>
          <a:p>
            <a:pPr marL="742950" lvl="1" indent="-285750"/>
            <a:r>
              <a:rPr lang="en-GB" sz="2200" i="1"/>
              <a:t>C</a:t>
            </a:r>
            <a:r>
              <a:rPr lang="en-GB" baseline="-25000"/>
              <a:t>4</a:t>
            </a:r>
            <a:r>
              <a:rPr lang="en-GB" sz="2200"/>
              <a:t> = {{1,  2,  3,   4}}</a:t>
            </a:r>
          </a:p>
          <a:p>
            <a:pPr marL="742950" lvl="1" indent="-285750">
              <a:spcAft>
                <a:spcPct val="50000"/>
              </a:spcAft>
              <a:buNone/>
            </a:pPr>
            <a:r>
              <a:rPr lang="en-GB" sz="2200"/>
              <a:t>	because </a:t>
            </a:r>
            <a:r>
              <a:rPr lang="en-GB" sz="2200">
                <a:solidFill>
                  <a:srgbClr val="FF0000"/>
                </a:solidFill>
              </a:rPr>
              <a:t>{1,  4,  5}</a:t>
            </a:r>
            <a:r>
              <a:rPr lang="en-GB" sz="2200"/>
              <a:t> is not in </a:t>
            </a:r>
            <a:r>
              <a:rPr lang="en-GB" sz="2200" i="1"/>
              <a:t>F</a:t>
            </a:r>
            <a:r>
              <a:rPr lang="en-GB" baseline="-25000"/>
              <a:t>3</a:t>
            </a:r>
            <a:r>
              <a:rPr lang="en-GB" sz="2200"/>
              <a:t> ({1,  3,  4,  5} is removed)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871</Words>
  <Application>Microsoft Macintosh PowerPoint</Application>
  <PresentationFormat>Widescreen</PresentationFormat>
  <Paragraphs>93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ＭＳ Ｐゴシック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 (Computer Engineering and Technology)  (SYB.Tech) </vt:lpstr>
      <vt:lpstr> Lab Assignment No 5 Association Rule Mining Using Apriori Algorithm</vt:lpstr>
      <vt:lpstr>Apriori Algorithm Flowchart</vt:lpstr>
      <vt:lpstr>Apriori Algorithm</vt:lpstr>
      <vt:lpstr>Example –  Finding frequent itemsets</vt:lpstr>
      <vt:lpstr>Apriori Algorithm</vt:lpstr>
      <vt:lpstr>Apriori candidate generation</vt:lpstr>
      <vt:lpstr>Candidate-gen function</vt:lpstr>
      <vt:lpstr>An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Apriori Algorithm</dc:title>
  <dc:creator>Snehal Sonawani</dc:creator>
  <cp:lastModifiedBy>Devendra Joshi</cp:lastModifiedBy>
  <cp:revision>6</cp:revision>
  <dcterms:created xsi:type="dcterms:W3CDTF">2019-12-15T11:40:13Z</dcterms:created>
  <dcterms:modified xsi:type="dcterms:W3CDTF">2026-04-01T04:02:06Z</dcterms:modified>
</cp:coreProperties>
</file>